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Teacher (0.8M)</c:v>
                </c:pt>
              </c:strCache>
            </c:strRef>
          </c:tx>
          <c:spPr>
            <a:solidFill>
              <a:srgbClr val="1C7293"/>
            </a:solidFill>
            <a:ln w="381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C7293"/>
              </a:solidFill>
              <a:ln w="9525" cap="flat">
                <a:solidFill>
                  <a:srgbClr val="1C7293"/>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Sheet1!$B$2:$B$8</c:f>
              <c:numCache>
                <c:formatCode>General</c:formatCode>
                <c:ptCount val="7"/>
                <c:pt idx="0">
                  <c:v>0.791</c:v>
                </c:pt>
                <c:pt idx="1">
                  <c:v>0.776</c:v>
                </c:pt>
                <c:pt idx="2">
                  <c:v>0.773</c:v>
                </c:pt>
                <c:pt idx="3">
                  <c:v>0.726</c:v>
                </c:pt>
                <c:pt idx="4">
                  <c:v>0.708</c:v>
                </c:pt>
                <c:pt idx="5">
                  <c:v>0.667</c:v>
                </c:pt>
                <c:pt idx="6">
                  <c:v>0.572</c:v>
                </c:pt>
              </c:numCache>
            </c:numRef>
          </c:val>
          <c:smooth val="0"/>
        </c:ser>
        <c:ser>
          <c:idx val="1"/>
          <c:order val="1"/>
          <c:tx>
            <c:strRef>
              <c:f>Sheet1!$C$1</c:f>
              <c:strCache>
                <c:ptCount val="1"/>
                <c:pt idx="0">
                  <c:v>Student scratch (54k)</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76F51"/>
              </a:solidFill>
              <a:ln w="9525" cap="flat">
                <a:solidFill>
                  <a:srgbClr val="E76F51"/>
                </a:solidFill>
                <a:prstDash val="solid"/>
                <a:round/>
              </a:ln>
              <a:effectLst/>
            </c:spPr>
          </c:marker>
          <c:cat>
            <c:multiLvlStrRef>
              <c:f>Sheet1!$A$2:$A$8</c:f>
              <c:multiLvlStrCache>
                <c:ptCount val="7"/>
                <c:lvl>
                  <c:pt idx="0">
                    <c:v>1024</c:v>
                  </c:pt>
                  <c:pt idx="1">
                    <c:v>512</c:v>
                  </c:pt>
                  <c:pt idx="2">
                    <c:v>256</c:v>
                  </c:pt>
                  <c:pt idx="3">
                    <c:v>128</c:v>
                  </c:pt>
                  <c:pt idx="4">
                    <c:v>64</c:v>
                  </c:pt>
                  <c:pt idx="5">
                    <c:v>32</c:v>
                  </c:pt>
                  <c:pt idx="6">
                    <c:v>16</c:v>
                  </c:pt>
                </c:lvl>
              </c:multiLvlStrCache>
            </c:multiLvlStrRef>
          </c:cat>
          <c:val>
            <c:numRef>
              <c:f>Sheet1!$C$2:$C$8</c:f>
              <c:numCache>
                <c:formatCode>General</c:formatCode>
                <c:ptCount val="7"/>
                <c:pt idx="0">
                  <c:v>0.81</c:v>
                </c:pt>
                <c:pt idx="1">
                  <c:v>0.785</c:v>
                </c:pt>
                <c:pt idx="2">
                  <c:v>0.779</c:v>
                </c:pt>
                <c:pt idx="3">
                  <c:v>0.731</c:v>
                </c:pt>
                <c:pt idx="4">
                  <c:v>0.677</c:v>
                </c:pt>
                <c:pt idx="5">
                  <c:v>0.616</c:v>
                </c:pt>
                <c:pt idx="6">
                  <c:v>0.568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B84"/>
                    </a:solidFill>
                    <a:latin typeface="Calibri"/>
                  </a:defRPr>
                </a:pPr>
                <a:r>
                  <a:rPr sz="1100" b="0" i="0" u="none" strike="noStrike">
                    <a:solidFill>
                      <a:srgbClr val="6B7B84"/>
                    </a:solidFill>
                    <a:latin typeface="Calibri"/>
                  </a:rPr>
                  <a:t># points à l'inférence (→ plus parcimonieux)</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2"/>
        <c:crosses val="autoZero"/>
        <c:auto val="1"/>
        <c:lblAlgn val="ctr"/>
        <c:noMultiLvlLbl val="1"/>
      </c:catAx>
      <c:valAx>
        <c:axId val="2094734552"/>
        <c:scaling>
          <c:orientation val="minMax"/>
          <c:max val="0.85"/>
          <c:min val="0.5"/>
        </c:scaling>
        <c:delete val="0"/>
        <c:axPos val="l"/>
        <c:majorGridlines>
          <c:spPr>
            <a:ln w="12700" cap="flat">
              <a:solidFill>
                <a:srgbClr val="E6ECEF"/>
              </a:solidFill>
              <a:prstDash val="solid"/>
              <a:round/>
            </a:ln>
          </c:spPr>
        </c:majorGridlines>
        <c:title>
          <c:tx>
            <c:rich>
              <a:bodyPr/>
              <a:lstStyle/>
              <a:p>
                <a:pPr>
                  <a:defRPr sz="1100" b="0" i="0" u="none" strike="noStrike">
                    <a:solidFill>
                      <a:srgbClr val="6B7B84"/>
                    </a:solidFill>
                    <a:latin typeface="Calibri"/>
                  </a:defRPr>
                </a:pPr>
                <a:r>
                  <a:rPr sz="1100" b="0" i="0" u="none" strike="noStrike">
                    <a:solidFill>
                      <a:srgbClr val="6B7B84"/>
                    </a:solidFill>
                    <a:latin typeface="Calibri"/>
                  </a:rPr>
                  <a:t>ROC-AUC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B84"/>
                </a:solidFill>
                <a:latin typeface="Calibri"/>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autour des nuages de points en imagerie médicale, focus distillation de connaissances. Sujet imposé: robustesse au sous-échantillonnage pour la classification. Ce deck couvre la première moitié: données, modèles baselines, et le protocole de robustesse.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porte sur un bénéfice précis de la KD: non pas la précision brute, mais la robustesse quand le nuage de points devient parcimonieux. H1 compare student distillé vs student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NoduleMNIST3D: petit, public, médical. On le transforme en nuages de points. Déséquilibre ~1:4 → on rapporte AUC et balanced-accuracy, pas l'accuracy brute, et on pondère la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de conversion. On échantillonne les voxels pondérés par l'intensité pour concentrer les points sur la structure du nodule. Le protocole de robustesse retire ensuite des points d'un nuage dense fixe.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PointNet pour teacher et student, largeur scalable. Le choix est justifié par la simplicité, l'invariance par permutation, et surtout le max-pool global qui rend l'analyse de robustesse limpide.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Protocole standard de robustesse: on construit un nuage dense fixe puis on en retire des points au test. On mesure l'AUC à chaque densité.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Courbe de robustesse. Deux observations clés: le petit student est compétitif à pleine densité, mais le teacher se dégrade plus gracieusement en sous-échantillonnage extrême. C'est exactement ce que la KD pourrait transférer.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Analyse honnête incluant le résultat inattendu (student ~ teacher). Le point important: le teacher est plus robuste en sparsité, ce qui motive et recadre l'hypothèse de KD.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concret de la suite, branché sur le code existant. L'idée originale: KD robuste où le student apprend à reproduire la sortie dense du teacher à partir d'un nuage parcimonieux.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Résumé: la moitié du projet livre toute l'infrastructure et les baselines. Le phénomène de robustesse est établi, l'hypothèse recadrée, et la KD est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93A"/>
        </a:solidFill>
      </p:bgPr>
    </p:bg>
    <p:spTree>
      <p:nvGrpSpPr>
        <p:cNvPr id="1" name=""/>
        <p:cNvGrpSpPr/>
        <p:nvPr/>
      </p:nvGrpSpPr>
      <p:grpSpPr>
        <a:xfrm>
          <a:off x="0" y="0"/>
          <a:ext cx="0" cy="0"/>
          <a:chOff x="0" y="0"/>
          <a:chExt cx="0" cy="0"/>
        </a:xfrm>
      </p:grpSpPr>
      <p:sp>
        <p:nvSpPr>
          <p:cNvPr id="2" name="Shape 0"/>
          <p:cNvSpPr/>
          <p:nvPr/>
        </p:nvSpPr>
        <p:spPr>
          <a:xfrm>
            <a:off x="10749521" y="3035608"/>
            <a:ext cx="110215" cy="110215"/>
          </a:xfrm>
          <a:prstGeom prst="ellipse">
            <a:avLst/>
          </a:prstGeom>
          <a:solidFill>
            <a:srgbClr val="2EC4B6">
              <a:alpha val="43373"/>
            </a:srgbClr>
          </a:solidFill>
          <a:ln/>
        </p:spPr>
      </p:sp>
      <p:sp>
        <p:nvSpPr>
          <p:cNvPr id="3" name="Shape 1"/>
          <p:cNvSpPr/>
          <p:nvPr/>
        </p:nvSpPr>
        <p:spPr>
          <a:xfrm>
            <a:off x="11176078" y="1324277"/>
            <a:ext cx="159949" cy="159949"/>
          </a:xfrm>
          <a:prstGeom prst="ellipse">
            <a:avLst/>
          </a:prstGeom>
          <a:solidFill>
            <a:srgbClr val="2EC4B6">
              <a:alpha val="39990"/>
            </a:srgbClr>
          </a:solidFill>
          <a:ln/>
        </p:spPr>
      </p:sp>
      <p:sp>
        <p:nvSpPr>
          <p:cNvPr id="4" name="Shape 2"/>
          <p:cNvSpPr/>
          <p:nvPr/>
        </p:nvSpPr>
        <p:spPr>
          <a:xfrm>
            <a:off x="9684496" y="611655"/>
            <a:ext cx="197593" cy="197593"/>
          </a:xfrm>
          <a:prstGeom prst="ellipse">
            <a:avLst/>
          </a:prstGeom>
          <a:solidFill>
            <a:srgbClr val="2EC4B6">
              <a:alpha val="36095"/>
            </a:srgbClr>
          </a:solidFill>
          <a:ln/>
        </p:spPr>
      </p:sp>
      <p:sp>
        <p:nvSpPr>
          <p:cNvPr id="5" name="Shape 3"/>
          <p:cNvSpPr/>
          <p:nvPr/>
        </p:nvSpPr>
        <p:spPr>
          <a:xfrm>
            <a:off x="10719358" y="1442884"/>
            <a:ext cx="95201" cy="95201"/>
          </a:xfrm>
          <a:prstGeom prst="ellipse">
            <a:avLst/>
          </a:prstGeom>
          <a:solidFill>
            <a:srgbClr val="2EC4B6">
              <a:alpha val="69645"/>
            </a:srgbClr>
          </a:solidFill>
          <a:ln/>
        </p:spPr>
      </p:sp>
      <p:sp>
        <p:nvSpPr>
          <p:cNvPr id="6" name="Shape 4"/>
          <p:cNvSpPr/>
          <p:nvPr/>
        </p:nvSpPr>
        <p:spPr>
          <a:xfrm>
            <a:off x="9581626" y="2127689"/>
            <a:ext cx="195433" cy="195433"/>
          </a:xfrm>
          <a:prstGeom prst="ellipse">
            <a:avLst/>
          </a:prstGeom>
          <a:solidFill>
            <a:srgbClr val="2EC4B6">
              <a:alpha val="53592"/>
            </a:srgbClr>
          </a:solidFill>
          <a:ln/>
        </p:spPr>
      </p:sp>
      <p:sp>
        <p:nvSpPr>
          <p:cNvPr id="7" name="Shape 5"/>
          <p:cNvSpPr/>
          <p:nvPr/>
        </p:nvSpPr>
        <p:spPr>
          <a:xfrm>
            <a:off x="9854151" y="3091937"/>
            <a:ext cx="150582" cy="150582"/>
          </a:xfrm>
          <a:prstGeom prst="ellipse">
            <a:avLst/>
          </a:prstGeom>
          <a:solidFill>
            <a:srgbClr val="2EC4B6">
              <a:alpha val="36953"/>
            </a:srgbClr>
          </a:solidFill>
          <a:ln/>
        </p:spPr>
      </p:sp>
      <p:sp>
        <p:nvSpPr>
          <p:cNvPr id="8" name="Shape 6"/>
          <p:cNvSpPr/>
          <p:nvPr/>
        </p:nvSpPr>
        <p:spPr>
          <a:xfrm>
            <a:off x="10642258" y="773952"/>
            <a:ext cx="145260" cy="145260"/>
          </a:xfrm>
          <a:prstGeom prst="ellipse">
            <a:avLst/>
          </a:prstGeom>
          <a:solidFill>
            <a:srgbClr val="2EC4B6">
              <a:alpha val="73935"/>
            </a:srgbClr>
          </a:solidFill>
          <a:ln/>
        </p:spPr>
      </p:sp>
      <p:sp>
        <p:nvSpPr>
          <p:cNvPr id="9" name="Shape 7"/>
          <p:cNvSpPr/>
          <p:nvPr/>
        </p:nvSpPr>
        <p:spPr>
          <a:xfrm>
            <a:off x="11280582" y="2788483"/>
            <a:ext cx="234027" cy="234027"/>
          </a:xfrm>
          <a:prstGeom prst="ellipse">
            <a:avLst/>
          </a:prstGeom>
          <a:solidFill>
            <a:srgbClr val="2EC4B6">
              <a:alpha val="44812"/>
            </a:srgbClr>
          </a:solidFill>
          <a:ln/>
        </p:spPr>
      </p:sp>
      <p:sp>
        <p:nvSpPr>
          <p:cNvPr id="10" name="Shape 8"/>
          <p:cNvSpPr/>
          <p:nvPr/>
        </p:nvSpPr>
        <p:spPr>
          <a:xfrm>
            <a:off x="11736496" y="3018610"/>
            <a:ext cx="267768" cy="267768"/>
          </a:xfrm>
          <a:prstGeom prst="ellipse">
            <a:avLst/>
          </a:prstGeom>
          <a:solidFill>
            <a:srgbClr val="2EC4B6">
              <a:alpha val="55502"/>
            </a:srgbClr>
          </a:solidFill>
          <a:ln/>
        </p:spPr>
      </p:sp>
      <p:sp>
        <p:nvSpPr>
          <p:cNvPr id="11" name="Shape 9"/>
          <p:cNvSpPr/>
          <p:nvPr/>
        </p:nvSpPr>
        <p:spPr>
          <a:xfrm>
            <a:off x="10971272" y="1812926"/>
            <a:ext cx="111819" cy="111819"/>
          </a:xfrm>
          <a:prstGeom prst="ellipse">
            <a:avLst/>
          </a:prstGeom>
          <a:solidFill>
            <a:srgbClr val="2EC4B6">
              <a:alpha val="44843"/>
            </a:srgbClr>
          </a:solidFill>
          <a:ln/>
        </p:spPr>
      </p:sp>
      <p:sp>
        <p:nvSpPr>
          <p:cNvPr id="12" name="Shape 10"/>
          <p:cNvSpPr/>
          <p:nvPr/>
        </p:nvSpPr>
        <p:spPr>
          <a:xfrm>
            <a:off x="9732713" y="2890388"/>
            <a:ext cx="149049" cy="149049"/>
          </a:xfrm>
          <a:prstGeom prst="ellipse">
            <a:avLst/>
          </a:prstGeom>
          <a:solidFill>
            <a:srgbClr val="2EC4B6">
              <a:alpha val="30343"/>
            </a:srgbClr>
          </a:solidFill>
          <a:ln/>
        </p:spPr>
      </p:sp>
      <p:sp>
        <p:nvSpPr>
          <p:cNvPr id="13" name="Shape 11"/>
          <p:cNvSpPr/>
          <p:nvPr/>
        </p:nvSpPr>
        <p:spPr>
          <a:xfrm>
            <a:off x="10456384" y="1637084"/>
            <a:ext cx="158525" cy="158525"/>
          </a:xfrm>
          <a:prstGeom prst="ellipse">
            <a:avLst/>
          </a:prstGeom>
          <a:solidFill>
            <a:srgbClr val="2EC4B6">
              <a:alpha val="36253"/>
            </a:srgbClr>
          </a:solidFill>
          <a:ln/>
        </p:spPr>
      </p:sp>
      <p:sp>
        <p:nvSpPr>
          <p:cNvPr id="14" name="Shape 12"/>
          <p:cNvSpPr/>
          <p:nvPr/>
        </p:nvSpPr>
        <p:spPr>
          <a:xfrm>
            <a:off x="10306777" y="2216482"/>
            <a:ext cx="175709" cy="175709"/>
          </a:xfrm>
          <a:prstGeom prst="ellipse">
            <a:avLst/>
          </a:prstGeom>
          <a:solidFill>
            <a:srgbClr val="2EC4B6">
              <a:alpha val="75128"/>
            </a:srgbClr>
          </a:solidFill>
          <a:ln/>
        </p:spPr>
      </p:sp>
      <p:sp>
        <p:nvSpPr>
          <p:cNvPr id="15" name="Shape 13"/>
          <p:cNvSpPr/>
          <p:nvPr/>
        </p:nvSpPr>
        <p:spPr>
          <a:xfrm>
            <a:off x="9247873" y="1281377"/>
            <a:ext cx="92032" cy="92032"/>
          </a:xfrm>
          <a:prstGeom prst="ellipse">
            <a:avLst/>
          </a:prstGeom>
          <a:solidFill>
            <a:srgbClr val="2EC4B6">
              <a:alpha val="41125"/>
            </a:srgbClr>
          </a:solidFill>
          <a:ln/>
        </p:spPr>
      </p:sp>
      <p:sp>
        <p:nvSpPr>
          <p:cNvPr id="16" name="Shape 14"/>
          <p:cNvSpPr/>
          <p:nvPr/>
        </p:nvSpPr>
        <p:spPr>
          <a:xfrm>
            <a:off x="11077100" y="2304830"/>
            <a:ext cx="195614" cy="195614"/>
          </a:xfrm>
          <a:prstGeom prst="ellipse">
            <a:avLst/>
          </a:prstGeom>
          <a:solidFill>
            <a:srgbClr val="2EC4B6">
              <a:alpha val="53757"/>
            </a:srgbClr>
          </a:solidFill>
          <a:ln/>
        </p:spPr>
      </p:sp>
      <p:sp>
        <p:nvSpPr>
          <p:cNvPr id="17" name="Shape 15"/>
          <p:cNvSpPr/>
          <p:nvPr/>
        </p:nvSpPr>
        <p:spPr>
          <a:xfrm>
            <a:off x="10341815" y="2551276"/>
            <a:ext cx="57430" cy="57430"/>
          </a:xfrm>
          <a:prstGeom prst="ellipse">
            <a:avLst/>
          </a:prstGeom>
          <a:solidFill>
            <a:srgbClr val="2EC4B6">
              <a:alpha val="38262"/>
            </a:srgbClr>
          </a:solidFill>
          <a:ln/>
        </p:spPr>
      </p:sp>
      <p:sp>
        <p:nvSpPr>
          <p:cNvPr id="18" name="Shape 16"/>
          <p:cNvSpPr/>
          <p:nvPr/>
        </p:nvSpPr>
        <p:spPr>
          <a:xfrm>
            <a:off x="10551146" y="724350"/>
            <a:ext cx="57306" cy="57306"/>
          </a:xfrm>
          <a:prstGeom prst="ellipse">
            <a:avLst/>
          </a:prstGeom>
          <a:solidFill>
            <a:srgbClr val="2EC4B6">
              <a:alpha val="67766"/>
            </a:srgbClr>
          </a:solidFill>
          <a:ln/>
        </p:spPr>
      </p:sp>
      <p:sp>
        <p:nvSpPr>
          <p:cNvPr id="19" name="Shape 17"/>
          <p:cNvSpPr/>
          <p:nvPr/>
        </p:nvSpPr>
        <p:spPr>
          <a:xfrm>
            <a:off x="10520392" y="2023991"/>
            <a:ext cx="115502" cy="115502"/>
          </a:xfrm>
          <a:prstGeom prst="ellipse">
            <a:avLst/>
          </a:prstGeom>
          <a:solidFill>
            <a:srgbClr val="2EC4B6">
              <a:alpha val="51938"/>
            </a:srgbClr>
          </a:solidFill>
          <a:ln/>
        </p:spPr>
      </p:sp>
      <p:sp>
        <p:nvSpPr>
          <p:cNvPr id="20" name="Shape 18"/>
          <p:cNvSpPr/>
          <p:nvPr/>
        </p:nvSpPr>
        <p:spPr>
          <a:xfrm>
            <a:off x="10222667" y="663407"/>
            <a:ext cx="39219" cy="39219"/>
          </a:xfrm>
          <a:prstGeom prst="ellipse">
            <a:avLst/>
          </a:prstGeom>
          <a:solidFill>
            <a:srgbClr val="2EC4B6">
              <a:alpha val="37003"/>
            </a:srgbClr>
          </a:solidFill>
          <a:ln/>
        </p:spPr>
      </p:sp>
      <p:sp>
        <p:nvSpPr>
          <p:cNvPr id="21" name="Shape 19"/>
          <p:cNvSpPr/>
          <p:nvPr/>
        </p:nvSpPr>
        <p:spPr>
          <a:xfrm>
            <a:off x="10124042" y="1790623"/>
            <a:ext cx="210774" cy="210774"/>
          </a:xfrm>
          <a:prstGeom prst="ellipse">
            <a:avLst/>
          </a:prstGeom>
          <a:solidFill>
            <a:srgbClr val="2EC4B6">
              <a:alpha val="41848"/>
            </a:srgbClr>
          </a:solidFill>
          <a:ln/>
        </p:spPr>
      </p:sp>
      <p:sp>
        <p:nvSpPr>
          <p:cNvPr id="22" name="Shape 20"/>
          <p:cNvSpPr/>
          <p:nvPr/>
        </p:nvSpPr>
        <p:spPr>
          <a:xfrm>
            <a:off x="11179112" y="2885737"/>
            <a:ext cx="54191" cy="54191"/>
          </a:xfrm>
          <a:prstGeom prst="ellipse">
            <a:avLst/>
          </a:prstGeom>
          <a:solidFill>
            <a:srgbClr val="2EC4B6">
              <a:alpha val="56749"/>
            </a:srgbClr>
          </a:solidFill>
          <a:ln/>
        </p:spPr>
      </p:sp>
      <p:sp>
        <p:nvSpPr>
          <p:cNvPr id="23" name="Shape 21"/>
          <p:cNvSpPr/>
          <p:nvPr/>
        </p:nvSpPr>
        <p:spPr>
          <a:xfrm>
            <a:off x="9869204" y="3142202"/>
            <a:ext cx="76755" cy="76755"/>
          </a:xfrm>
          <a:prstGeom prst="ellipse">
            <a:avLst/>
          </a:prstGeom>
          <a:solidFill>
            <a:srgbClr val="2EC4B6">
              <a:alpha val="55476"/>
            </a:srgbClr>
          </a:solidFill>
          <a:ln/>
        </p:spPr>
      </p:sp>
      <p:sp>
        <p:nvSpPr>
          <p:cNvPr id="24" name="Shape 22"/>
          <p:cNvSpPr/>
          <p:nvPr/>
        </p:nvSpPr>
        <p:spPr>
          <a:xfrm>
            <a:off x="8936516" y="2713674"/>
            <a:ext cx="73914" cy="73914"/>
          </a:xfrm>
          <a:prstGeom prst="ellipse">
            <a:avLst/>
          </a:prstGeom>
          <a:solidFill>
            <a:srgbClr val="2EC4B6">
              <a:alpha val="71827"/>
            </a:srgbClr>
          </a:solidFill>
          <a:ln/>
        </p:spPr>
      </p:sp>
      <p:sp>
        <p:nvSpPr>
          <p:cNvPr id="25" name="Shape 23"/>
          <p:cNvSpPr/>
          <p:nvPr/>
        </p:nvSpPr>
        <p:spPr>
          <a:xfrm>
            <a:off x="9653789" y="1410147"/>
            <a:ext cx="247854" cy="247854"/>
          </a:xfrm>
          <a:prstGeom prst="ellipse">
            <a:avLst/>
          </a:prstGeom>
          <a:solidFill>
            <a:srgbClr val="2EC4B6">
              <a:alpha val="54508"/>
            </a:srgbClr>
          </a:solidFill>
          <a:ln/>
        </p:spPr>
      </p:sp>
      <p:sp>
        <p:nvSpPr>
          <p:cNvPr id="26" name="Shape 24"/>
          <p:cNvSpPr/>
          <p:nvPr/>
        </p:nvSpPr>
        <p:spPr>
          <a:xfrm>
            <a:off x="9690343" y="3275476"/>
            <a:ext cx="148007" cy="148007"/>
          </a:xfrm>
          <a:prstGeom prst="ellipse">
            <a:avLst/>
          </a:prstGeom>
          <a:solidFill>
            <a:srgbClr val="2EC4B6">
              <a:alpha val="62677"/>
            </a:srgbClr>
          </a:solidFill>
          <a:ln/>
        </p:spPr>
      </p:sp>
      <p:sp>
        <p:nvSpPr>
          <p:cNvPr id="27" name="Shape 25"/>
          <p:cNvSpPr/>
          <p:nvPr/>
        </p:nvSpPr>
        <p:spPr>
          <a:xfrm>
            <a:off x="9527167" y="1049995"/>
            <a:ext cx="247446" cy="247446"/>
          </a:xfrm>
          <a:prstGeom prst="ellipse">
            <a:avLst/>
          </a:prstGeom>
          <a:solidFill>
            <a:srgbClr val="2EC4B6">
              <a:alpha val="77199"/>
            </a:srgbClr>
          </a:solidFill>
          <a:ln/>
        </p:spPr>
      </p:sp>
      <p:sp>
        <p:nvSpPr>
          <p:cNvPr id="28" name="Text 26"/>
          <p:cNvSpPr txBox="1"/>
          <p:nvPr/>
        </p:nvSpPr>
        <p:spPr>
          <a:xfrm>
            <a:off x="640080" y="1234440"/>
            <a:ext cx="3657600" cy="365760"/>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1ʳᵉ moitié du projet</a:t>
            </a:r>
            <a:endParaRPr lang="en-US" sz="1400" dirty="0"/>
          </a:p>
        </p:txBody>
      </p:sp>
      <p:sp>
        <p:nvSpPr>
          <p:cNvPr id="29" name="Text 27"/>
          <p:cNvSpPr txBox="1"/>
          <p:nvPr/>
        </p:nvSpPr>
        <p:spPr>
          <a:xfrm>
            <a:off x="640080" y="1691640"/>
            <a:ext cx="10424160" cy="182880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Distillation de connaissances &amp;</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robustesse au sous-échantillonnage</a:t>
            </a:r>
            <a:endParaRPr lang="en-US" sz="4000" dirty="0"/>
          </a:p>
        </p:txBody>
      </p:sp>
      <p:sp>
        <p:nvSpPr>
          <p:cNvPr id="30" name="Text 28"/>
          <p:cNvSpPr txBox="1"/>
          <p:nvPr/>
        </p:nvSpPr>
        <p:spPr>
          <a:xfrm>
            <a:off x="640080" y="3657600"/>
            <a:ext cx="10058400" cy="640080"/>
          </a:xfrm>
          <a:prstGeom prst="rect">
            <a:avLst/>
          </a:prstGeom>
          <a:noFill/>
          <a:ln/>
        </p:spPr>
        <p:txBody>
          <a:bodyPr wrap="square" lIns="0" tIns="0" rIns="0" bIns="0" rtlCol="0" anchor="ctr"/>
          <a:lstStyle/>
          <a:p>
            <a:pPr indent="0" marL="0">
              <a:buNone/>
            </a:pPr>
            <a:r>
              <a:rPr lang="en-US" sz="1800" dirty="0">
                <a:solidFill>
                  <a:srgbClr val="CFE2E6"/>
                </a:solidFill>
                <a:latin typeface="Calibri" pitchFamily="34" charset="0"/>
                <a:ea typeface="Calibri" pitchFamily="34" charset="-122"/>
                <a:cs typeface="Calibri" pitchFamily="34" charset="-120"/>
              </a:rPr>
              <a:t>Nuages de points appliqués à l'imagerie médicale — classification de nodules (NoduleMNIST3D)</a:t>
            </a:r>
            <a:endParaRPr lang="en-US" sz="1800" dirty="0"/>
          </a:p>
        </p:txBody>
      </p:sp>
      <p:sp>
        <p:nvSpPr>
          <p:cNvPr id="31" name="Text 29"/>
          <p:cNvSpPr txBox="1"/>
          <p:nvPr/>
        </p:nvSpPr>
        <p:spPr>
          <a:xfrm>
            <a:off x="640080" y="4663440"/>
            <a:ext cx="10058400" cy="457200"/>
          </a:xfrm>
          <a:prstGeom prst="rect">
            <a:avLst/>
          </a:prstGeom>
          <a:noFill/>
          <a:ln/>
        </p:spPr>
        <p:txBody>
          <a:bodyPr wrap="square" lIns="0" tIns="0" rIns="0" bIns="0" rtlCol="0" anchor="ctr"/>
          <a:lstStyle/>
          <a:p>
            <a:pPr indent="0" marL="0">
              <a:buNone/>
            </a:pPr>
            <a:r>
              <a:rPr lang="en-US" sz="1400" dirty="0">
                <a:solidFill>
                  <a:srgbClr val="9FC2C8"/>
                </a:solidFill>
                <a:latin typeface="Calibri" pitchFamily="34" charset="0"/>
                <a:ea typeface="Calibri" pitchFamily="34" charset="-122"/>
                <a:cs typeface="Calibri" pitchFamily="34" charset="-120"/>
              </a:rPr>
              <a:t>PointNet (teacher / student)  ·  Knowledge Distillation  ·  GPU (RTX 5060)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Question de recherche</a:t>
            </a:r>
            <a:endParaRPr lang="en-US" sz="3200" dirty="0"/>
          </a:p>
        </p:txBody>
      </p:sp>
      <p:sp>
        <p:nvSpPr>
          <p:cNvPr id="3" name="Shape 1"/>
          <p:cNvSpPr/>
          <p:nvPr/>
        </p:nvSpPr>
        <p:spPr>
          <a:xfrm>
            <a:off x="548640" y="1463040"/>
            <a:ext cx="11064240" cy="1691640"/>
          </a:xfrm>
          <a:prstGeom prst="roundRect">
            <a:avLst>
              <a:gd name="adj" fmla="val 4865"/>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868680" y="1783080"/>
            <a:ext cx="914400" cy="914400"/>
          </a:xfrm>
          <a:prstGeom prst="ellipse">
            <a:avLst/>
          </a:prstGeom>
          <a:solidFill>
            <a:srgbClr val="1C7293"/>
          </a:solid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Q</a:t>
            </a:r>
            <a:endParaRPr lang="en-US" sz="3000" dirty="0"/>
          </a:p>
        </p:txBody>
      </p:sp>
      <p:sp>
        <p:nvSpPr>
          <p:cNvPr id="5" name="Text 3"/>
          <p:cNvSpPr txBox="1"/>
          <p:nvPr/>
        </p:nvSpPr>
        <p:spPr>
          <a:xfrm>
            <a:off x="2057400" y="1572768"/>
            <a:ext cx="9235440" cy="1463040"/>
          </a:xfrm>
          <a:prstGeom prst="rect">
            <a:avLst/>
          </a:prstGeom>
          <a:noFill/>
          <a:ln/>
        </p:spPr>
        <p:txBody>
          <a:bodyPr wrap="square" lIns="0" tIns="0" rIns="0" bIns="0" rtlCol="0" anchor="ctr"/>
          <a:lstStyle/>
          <a:p>
            <a:pPr indent="0" marL="0">
              <a:lnSpc>
                <a:spcPct val="108000"/>
              </a:lnSpc>
              <a:buNone/>
            </a:pPr>
            <a:r>
              <a:rPr lang="en-US" sz="2000" dirty="0">
                <a:solidFill>
                  <a:srgbClr val="16323D"/>
                </a:solidFill>
                <a:latin typeface="Calibri" pitchFamily="34" charset="0"/>
                <a:ea typeface="Calibri" pitchFamily="34" charset="-122"/>
                <a:cs typeface="Calibri" pitchFamily="34" charset="-120"/>
              </a:rPr>
              <a:t>La distillation d'un teacher entraîné sur des nuages </a:t>
            </a:r>
            <a:pPr indent="0" marL="0">
              <a:lnSpc>
                <a:spcPct val="108000"/>
              </a:lnSpc>
              <a:buNone/>
            </a:pPr>
            <a:r>
              <a:rPr lang="en-US" sz="2000" b="1" dirty="0">
                <a:solidFill>
                  <a:srgbClr val="1C7293"/>
                </a:solidFill>
                <a:latin typeface="Calibri" pitchFamily="34" charset="0"/>
                <a:ea typeface="Calibri" pitchFamily="34" charset="-122"/>
                <a:cs typeface="Calibri" pitchFamily="34" charset="-120"/>
              </a:rPr>
              <a:t>denses</a:t>
            </a:r>
            <a:pPr indent="0" marL="0">
              <a:lnSpc>
                <a:spcPct val="108000"/>
              </a:lnSpc>
              <a:buNone/>
            </a:pPr>
            <a:r>
              <a:rPr lang="en-US" sz="2000" dirty="0">
                <a:solidFill>
                  <a:srgbClr val="16323D"/>
                </a:solidFill>
                <a:latin typeface="Calibri" pitchFamily="34" charset="0"/>
                <a:ea typeface="Calibri" pitchFamily="34" charset="-122"/>
                <a:cs typeface="Calibri" pitchFamily="34" charset="-120"/>
              </a:rPr>
              <a:t> permet-elle à un student léger d'être plus </a:t>
            </a:r>
            <a:pPr indent="0" marL="0">
              <a:lnSpc>
                <a:spcPct val="108000"/>
              </a:lnSpc>
              <a:buNone/>
            </a:pPr>
            <a:r>
              <a:rPr lang="en-US" sz="2000" b="1" dirty="0">
                <a:solidFill>
                  <a:srgbClr val="1C7293"/>
                </a:solidFill>
                <a:latin typeface="Calibri" pitchFamily="34" charset="0"/>
                <a:ea typeface="Calibri" pitchFamily="34" charset="-122"/>
                <a:cs typeface="Calibri" pitchFamily="34" charset="-120"/>
              </a:rPr>
              <a:t>robuste au sous-échantillonnage</a:t>
            </a:r>
            <a:pPr indent="0" marL="0">
              <a:lnSpc>
                <a:spcPct val="108000"/>
              </a:lnSpc>
              <a:buNone/>
            </a:pPr>
            <a:r>
              <a:rPr lang="en-US" sz="2000" dirty="0">
                <a:solidFill>
                  <a:srgbClr val="16323D"/>
                </a:solidFill>
                <a:latin typeface="Calibri" pitchFamily="34" charset="0"/>
                <a:ea typeface="Calibri" pitchFamily="34" charset="-122"/>
                <a:cs typeface="Calibri" pitchFamily="34" charset="-120"/>
              </a:rPr>
              <a:t> des points à l'inférence, pour la classification de nodules pulmonaires ?</a:t>
            </a:r>
            <a:endParaRPr lang="en-US" sz="2000" dirty="0"/>
          </a:p>
        </p:txBody>
      </p:sp>
      <p:sp>
        <p:nvSpPr>
          <p:cNvPr id="6" name="Shape 4"/>
          <p:cNvSpPr/>
          <p:nvPr/>
        </p:nvSpPr>
        <p:spPr>
          <a:xfrm>
            <a:off x="548640" y="3429000"/>
            <a:ext cx="11064240" cy="1554480"/>
          </a:xfrm>
          <a:prstGeom prst="roundRect">
            <a:avLst>
              <a:gd name="adj" fmla="val 5294"/>
            </a:avLst>
          </a:prstGeom>
          <a:solidFill>
            <a:srgbClr val="F2F6F7"/>
          </a:solidFill>
          <a:ln/>
          <a:effectLst>
            <a:outerShdw sx="100000" sy="100000" kx="0" ky="0" algn="bl" rotWithShape="0" blurRad="88900" dist="25400" dir="5400000">
              <a:srgbClr val="9AAEB5">
                <a:alpha val="35000"/>
              </a:srgbClr>
            </a:outerShdw>
          </a:effectLst>
        </p:spPr>
      </p:sp>
      <p:sp>
        <p:nvSpPr>
          <p:cNvPr id="7" name="Text 5"/>
          <p:cNvSpPr txBox="1"/>
          <p:nvPr/>
        </p:nvSpPr>
        <p:spPr>
          <a:xfrm>
            <a:off x="868680" y="3703320"/>
            <a:ext cx="914400" cy="914400"/>
          </a:xfrm>
          <a:prstGeom prst="ellipse">
            <a:avLst/>
          </a:prstGeom>
          <a:solidFill>
            <a:srgbClr val="E76F51"/>
          </a:solid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H1</a:t>
            </a:r>
            <a:endParaRPr lang="en-US" sz="2600" dirty="0"/>
          </a:p>
        </p:txBody>
      </p:sp>
      <p:sp>
        <p:nvSpPr>
          <p:cNvPr id="8" name="Text 6"/>
          <p:cNvSpPr txBox="1"/>
          <p:nvPr/>
        </p:nvSpPr>
        <p:spPr>
          <a:xfrm>
            <a:off x="2057400" y="3538728"/>
            <a:ext cx="9235440" cy="1335024"/>
          </a:xfrm>
          <a:prstGeom prst="rect">
            <a:avLst/>
          </a:prstGeom>
          <a:noFill/>
          <a:ln/>
        </p:spPr>
        <p:txBody>
          <a:bodyPr wrap="square" lIns="0" tIns="0" rIns="0" bIns="0" rtlCol="0" anchor="ctr"/>
          <a:lstStyle/>
          <a:p>
            <a:pPr indent="0" marL="0">
              <a:lnSpc>
                <a:spcPct val="108000"/>
              </a:lnSpc>
              <a:buNone/>
            </a:pPr>
            <a:r>
              <a:rPr lang="en-US" sz="1800" b="1" dirty="0">
                <a:solidFill>
                  <a:srgbClr val="E76F51"/>
                </a:solidFill>
                <a:latin typeface="Calibri" pitchFamily="34" charset="0"/>
                <a:ea typeface="Calibri" pitchFamily="34" charset="-122"/>
                <a:cs typeface="Calibri" pitchFamily="34" charset="-120"/>
              </a:rPr>
              <a:t>Hypothèse.  </a:t>
            </a:r>
            <a:pPr indent="0" marL="0">
              <a:lnSpc>
                <a:spcPct val="108000"/>
              </a:lnSpc>
              <a:buNone/>
            </a:pPr>
            <a:r>
              <a:rPr lang="en-US" sz="1800" dirty="0">
                <a:solidFill>
                  <a:srgbClr val="16323D"/>
                </a:solidFill>
                <a:latin typeface="Calibri" pitchFamily="34" charset="0"/>
                <a:ea typeface="Calibri" pitchFamily="34" charset="-122"/>
                <a:cs typeface="Calibri" pitchFamily="34" charset="-120"/>
              </a:rPr>
              <a:t>Un student </a:t>
            </a:r>
            <a:pPr indent="0" marL="0">
              <a:lnSpc>
                <a:spcPct val="108000"/>
              </a:lnSpc>
              <a:buNone/>
            </a:pPr>
            <a:r>
              <a:rPr lang="en-US" sz="1800" b="1" dirty="0">
                <a:solidFill>
                  <a:srgbClr val="16323D"/>
                </a:solidFill>
                <a:latin typeface="Calibri" pitchFamily="34" charset="0"/>
                <a:ea typeface="Calibri" pitchFamily="34" charset="-122"/>
                <a:cs typeface="Calibri" pitchFamily="34" charset="-120"/>
              </a:rPr>
              <a:t>distillé</a:t>
            </a:r>
            <a:pPr indent="0" marL="0">
              <a:lnSpc>
                <a:spcPct val="108000"/>
              </a:lnSpc>
              <a:buNone/>
            </a:pPr>
            <a:r>
              <a:rPr lang="en-US" sz="1800" dirty="0">
                <a:solidFill>
                  <a:srgbClr val="16323D"/>
                </a:solidFill>
                <a:latin typeface="Calibri" pitchFamily="34" charset="0"/>
                <a:ea typeface="Calibri" pitchFamily="34" charset="-122"/>
                <a:cs typeface="Calibri" pitchFamily="34" charset="-120"/>
              </a:rPr>
              <a:t> se dégrade plus gracieusement quand on retire des points en test qu'un student entraîné </a:t>
            </a:r>
            <a:pPr indent="0" marL="0">
              <a:lnSpc>
                <a:spcPct val="108000"/>
              </a:lnSpc>
              <a:buNone/>
            </a:pPr>
            <a:r>
              <a:rPr lang="en-US" sz="1800" i="1" dirty="0">
                <a:solidFill>
                  <a:srgbClr val="16323D"/>
                </a:solidFill>
                <a:latin typeface="Calibri" pitchFamily="34" charset="0"/>
                <a:ea typeface="Calibri" pitchFamily="34" charset="-122"/>
                <a:cs typeface="Calibri" pitchFamily="34" charset="-120"/>
              </a:rPr>
              <a:t>from scratch</a:t>
            </a:r>
            <a:pPr indent="0" marL="0">
              <a:lnSpc>
                <a:spcPct val="108000"/>
              </a:lnSpc>
              <a:buNone/>
            </a:pPr>
            <a:r>
              <a:rPr lang="en-US" sz="1800" dirty="0">
                <a:solidFill>
                  <a:srgbClr val="16323D"/>
                </a:solidFill>
                <a:latin typeface="Calibri" pitchFamily="34" charset="0"/>
                <a:ea typeface="Calibri" pitchFamily="34" charset="-122"/>
                <a:cs typeface="Calibri" pitchFamily="34" charset="-120"/>
              </a:rPr>
              <a:t> (cross-entropy seule), à capacité égale.</a:t>
            </a:r>
            <a:endParaRPr lang="en-US" sz="1800" dirty="0"/>
          </a:p>
        </p:txBody>
      </p:sp>
      <p:sp>
        <p:nvSpPr>
          <p:cNvPr id="9" name="Text 7"/>
          <p:cNvSpPr txBox="1"/>
          <p:nvPr/>
        </p:nvSpPr>
        <p:spPr>
          <a:xfrm>
            <a:off x="548640" y="5212080"/>
            <a:ext cx="11064240" cy="365760"/>
          </a:xfrm>
          <a:prstGeom prst="rect">
            <a:avLst/>
          </a:prstGeom>
          <a:noFill/>
          <a:ln/>
        </p:spPr>
        <p:txBody>
          <a:bodyPr wrap="square" lIns="0" tIns="0" rIns="0" bIns="0" rtlCol="0" anchor="ctr"/>
          <a:lstStyle/>
          <a:p>
            <a:pPr indent="0" marL="0">
              <a:buNone/>
            </a:pPr>
            <a:r>
              <a:rPr lang="en-US" sz="1300" i="1" dirty="0">
                <a:solidFill>
                  <a:srgbClr val="6B7B84"/>
                </a:solidFill>
                <a:latin typeface="Calibri" pitchFamily="34" charset="0"/>
                <a:ea typeface="Calibri" pitchFamily="34" charset="-122"/>
                <a:cs typeface="Calibri" pitchFamily="34" charset="-120"/>
              </a:rPr>
              <a:t>Condition imposée : données médicales · dataset &amp; architectures libres (à justifier).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Données — NoduleMNIST3D (MedMNIST v2)</a:t>
            </a:r>
            <a:endParaRPr lang="en-US" sz="3200" dirty="0"/>
          </a:p>
        </p:txBody>
      </p:sp>
      <p:sp>
        <p:nvSpPr>
          <p:cNvPr id="3" name="Shape 1"/>
          <p:cNvSpPr/>
          <p:nvPr/>
        </p:nvSpPr>
        <p:spPr>
          <a:xfrm>
            <a:off x="548640" y="1508760"/>
            <a:ext cx="2697480" cy="1371600"/>
          </a:xfrm>
          <a:prstGeom prst="roundRect">
            <a:avLst>
              <a:gd name="adj" fmla="val 6000"/>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548640" y="1645920"/>
            <a:ext cx="2697480" cy="73152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1 633</a:t>
            </a:r>
            <a:endParaRPr lang="en-US" sz="3400" dirty="0"/>
          </a:p>
        </p:txBody>
      </p:sp>
      <p:sp>
        <p:nvSpPr>
          <p:cNvPr id="5" name="Text 3"/>
          <p:cNvSpPr txBox="1"/>
          <p:nvPr/>
        </p:nvSpPr>
        <p:spPr>
          <a:xfrm>
            <a:off x="685800"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volumes CT (1158/165/310)</a:t>
            </a:r>
            <a:endParaRPr lang="en-US" sz="1250" dirty="0"/>
          </a:p>
        </p:txBody>
      </p:sp>
      <p:sp>
        <p:nvSpPr>
          <p:cNvPr id="6" name="Shape 4"/>
          <p:cNvSpPr/>
          <p:nvPr/>
        </p:nvSpPr>
        <p:spPr>
          <a:xfrm>
            <a:off x="3410712" y="1508760"/>
            <a:ext cx="2697480" cy="1371600"/>
          </a:xfrm>
          <a:prstGeom prst="roundRect">
            <a:avLst>
              <a:gd name="adj" fmla="val 6000"/>
            </a:avLst>
          </a:prstGeom>
          <a:solidFill>
            <a:srgbClr val="F2F6F7"/>
          </a:solidFill>
          <a:ln/>
          <a:effectLst>
            <a:outerShdw sx="100000" sy="100000" kx="0" ky="0" algn="bl" rotWithShape="0" blurRad="88900" dist="25400" dir="5400000">
              <a:srgbClr val="9AAEB5">
                <a:alpha val="35000"/>
              </a:srgbClr>
            </a:outerShdw>
          </a:effectLst>
        </p:spPr>
      </p:sp>
      <p:sp>
        <p:nvSpPr>
          <p:cNvPr id="7" name="Text 5"/>
          <p:cNvSpPr txBox="1"/>
          <p:nvPr/>
        </p:nvSpPr>
        <p:spPr>
          <a:xfrm>
            <a:off x="3410712" y="1645920"/>
            <a:ext cx="2697480" cy="731520"/>
          </a:xfrm>
          <a:prstGeom prst="rect">
            <a:avLst/>
          </a:prstGeom>
          <a:noFill/>
          <a:ln/>
        </p:spPr>
        <p:txBody>
          <a:bodyPr wrap="square" lIns="0" tIns="0" rIns="0" bIns="0" rtlCol="0" anchor="ctr"/>
          <a:lstStyle/>
          <a:p>
            <a:pPr algn="ctr" indent="0" marL="0">
              <a:buNone/>
            </a:pPr>
            <a:r>
              <a:rPr lang="en-US" sz="3400" b="1" dirty="0">
                <a:solidFill>
                  <a:srgbClr val="E76F51"/>
                </a:solidFill>
                <a:latin typeface="Cambria" pitchFamily="34" charset="0"/>
                <a:ea typeface="Cambria" pitchFamily="34" charset="-122"/>
                <a:cs typeface="Cambria" pitchFamily="34" charset="-120"/>
              </a:rPr>
              <a:t>28³</a:t>
            </a:r>
            <a:endParaRPr lang="en-US" sz="3400" dirty="0"/>
          </a:p>
        </p:txBody>
      </p:sp>
      <p:sp>
        <p:nvSpPr>
          <p:cNvPr id="8" name="Text 6"/>
          <p:cNvSpPr txBox="1"/>
          <p:nvPr/>
        </p:nvSpPr>
        <p:spPr>
          <a:xfrm>
            <a:off x="3547872"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voxels par volume</a:t>
            </a:r>
            <a:endParaRPr lang="en-US" sz="1250" dirty="0"/>
          </a:p>
        </p:txBody>
      </p:sp>
      <p:sp>
        <p:nvSpPr>
          <p:cNvPr id="9" name="Shape 7"/>
          <p:cNvSpPr/>
          <p:nvPr/>
        </p:nvSpPr>
        <p:spPr>
          <a:xfrm>
            <a:off x="6272784" y="1508760"/>
            <a:ext cx="2697480" cy="1371600"/>
          </a:xfrm>
          <a:prstGeom prst="roundRect">
            <a:avLst>
              <a:gd name="adj" fmla="val 6000"/>
            </a:avLst>
          </a:prstGeom>
          <a:solidFill>
            <a:srgbClr val="EAF3F3"/>
          </a:solidFill>
          <a:ln/>
          <a:effectLst>
            <a:outerShdw sx="100000" sy="100000" kx="0" ky="0" algn="bl" rotWithShape="0" blurRad="88900" dist="25400" dir="5400000">
              <a:srgbClr val="9AAEB5">
                <a:alpha val="35000"/>
              </a:srgbClr>
            </a:outerShdw>
          </a:effectLst>
        </p:spPr>
      </p:sp>
      <p:sp>
        <p:nvSpPr>
          <p:cNvPr id="10" name="Text 8"/>
          <p:cNvSpPr txBox="1"/>
          <p:nvPr/>
        </p:nvSpPr>
        <p:spPr>
          <a:xfrm>
            <a:off x="6272784" y="1645920"/>
            <a:ext cx="2697480" cy="73152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~25 %</a:t>
            </a:r>
            <a:endParaRPr lang="en-US" sz="3400" dirty="0"/>
          </a:p>
        </p:txBody>
      </p:sp>
      <p:sp>
        <p:nvSpPr>
          <p:cNvPr id="11" name="Text 9"/>
          <p:cNvSpPr txBox="1"/>
          <p:nvPr/>
        </p:nvSpPr>
        <p:spPr>
          <a:xfrm>
            <a:off x="6409944"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nodules malins (déséquilibré)</a:t>
            </a:r>
            <a:endParaRPr lang="en-US" sz="1250" dirty="0"/>
          </a:p>
        </p:txBody>
      </p:sp>
      <p:sp>
        <p:nvSpPr>
          <p:cNvPr id="12" name="Shape 10"/>
          <p:cNvSpPr/>
          <p:nvPr/>
        </p:nvSpPr>
        <p:spPr>
          <a:xfrm>
            <a:off x="9134856" y="1508760"/>
            <a:ext cx="2697480" cy="1371600"/>
          </a:xfrm>
          <a:prstGeom prst="roundRect">
            <a:avLst>
              <a:gd name="adj" fmla="val 6000"/>
            </a:avLst>
          </a:prstGeom>
          <a:solidFill>
            <a:srgbClr val="F2F6F7"/>
          </a:solidFill>
          <a:ln/>
          <a:effectLst>
            <a:outerShdw sx="100000" sy="100000" kx="0" ky="0" algn="bl" rotWithShape="0" blurRad="88900" dist="25400" dir="5400000">
              <a:srgbClr val="9AAEB5">
                <a:alpha val="35000"/>
              </a:srgbClr>
            </a:outerShdw>
          </a:effectLst>
        </p:spPr>
      </p:sp>
      <p:sp>
        <p:nvSpPr>
          <p:cNvPr id="13" name="Text 11"/>
          <p:cNvSpPr txBox="1"/>
          <p:nvPr/>
        </p:nvSpPr>
        <p:spPr>
          <a:xfrm>
            <a:off x="9134856" y="1645920"/>
            <a:ext cx="2697480" cy="731520"/>
          </a:xfrm>
          <a:prstGeom prst="rect">
            <a:avLst/>
          </a:prstGeom>
          <a:noFill/>
          <a:ln/>
        </p:spPr>
        <p:txBody>
          <a:bodyPr wrap="square" lIns="0" tIns="0" rIns="0" bIns="0" rtlCol="0" anchor="ctr"/>
          <a:lstStyle/>
          <a:p>
            <a:pPr algn="ctr" indent="0" marL="0">
              <a:buNone/>
            </a:pPr>
            <a:r>
              <a:rPr lang="en-US" sz="3400" b="1" dirty="0">
                <a:solidFill>
                  <a:srgbClr val="E76F51"/>
                </a:solidFill>
                <a:latin typeface="Cambria" pitchFamily="34" charset="0"/>
                <a:ea typeface="Cambria" pitchFamily="34" charset="-122"/>
                <a:cs typeface="Cambria" pitchFamily="34" charset="-120"/>
              </a:rPr>
              <a:t>binaire</a:t>
            </a:r>
            <a:endParaRPr lang="en-US" sz="3400" dirty="0"/>
          </a:p>
        </p:txBody>
      </p:sp>
      <p:sp>
        <p:nvSpPr>
          <p:cNvPr id="14" name="Text 12"/>
          <p:cNvSpPr txBox="1"/>
          <p:nvPr/>
        </p:nvSpPr>
        <p:spPr>
          <a:xfrm>
            <a:off x="9272016" y="2377440"/>
            <a:ext cx="2423160" cy="457200"/>
          </a:xfrm>
          <a:prstGeom prst="rect">
            <a:avLst/>
          </a:prstGeom>
          <a:noFill/>
          <a:ln/>
        </p:spPr>
        <p:txBody>
          <a:bodyPr wrap="square" lIns="0" tIns="0" rIns="0" bIns="0" rtlCol="0" anchor="ctr"/>
          <a:lstStyle/>
          <a:p>
            <a:pPr algn="ctr" indent="0" marL="0">
              <a:buNone/>
            </a:pPr>
            <a:r>
              <a:rPr lang="en-US" sz="1250" dirty="0">
                <a:solidFill>
                  <a:srgbClr val="6B7B84"/>
                </a:solidFill>
                <a:latin typeface="Calibri" pitchFamily="34" charset="0"/>
                <a:ea typeface="Calibri" pitchFamily="34" charset="-122"/>
                <a:cs typeface="Calibri" pitchFamily="34" charset="-120"/>
              </a:rPr>
              <a:t>bénin vs malin</a:t>
            </a:r>
            <a:endParaRPr lang="en-US" sz="1250" dirty="0"/>
          </a:p>
        </p:txBody>
      </p:sp>
      <p:sp>
        <p:nvSpPr>
          <p:cNvPr id="15" name="Text 13"/>
          <p:cNvSpPr txBox="1"/>
          <p:nvPr/>
        </p:nvSpPr>
        <p:spPr>
          <a:xfrm>
            <a:off x="548640" y="3200400"/>
            <a:ext cx="10058400" cy="365760"/>
          </a:xfrm>
          <a:prstGeom prst="rect">
            <a:avLst/>
          </a:prstGeom>
          <a:noFill/>
          <a:ln/>
        </p:spPr>
        <p:txBody>
          <a:bodyPr wrap="square" lIns="0" tIns="0" rIns="0" bIns="0" rtlCol="0" anchor="ctr"/>
          <a:lstStyle/>
          <a:p>
            <a:pPr indent="0" marL="0">
              <a:buNone/>
            </a:pPr>
            <a:r>
              <a:rPr lang="en-US" sz="1800" b="1" dirty="0">
                <a:solidFill>
                  <a:srgbClr val="0B3C5D"/>
                </a:solidFill>
                <a:latin typeface="Cambria" pitchFamily="34" charset="0"/>
                <a:ea typeface="Cambria" pitchFamily="34" charset="-122"/>
                <a:cs typeface="Cambria" pitchFamily="34" charset="-120"/>
              </a:rPr>
              <a:t>Pourquoi ce jeu de données</a:t>
            </a:r>
            <a:endParaRPr lang="en-US" sz="1800" dirty="0"/>
          </a:p>
        </p:txBody>
      </p:sp>
      <p:sp>
        <p:nvSpPr>
          <p:cNvPr id="16" name="Text 14"/>
          <p:cNvSpPr txBox="1"/>
          <p:nvPr/>
        </p:nvSpPr>
        <p:spPr>
          <a:xfrm>
            <a:off x="640080" y="3657600"/>
            <a:ext cx="10972800" cy="2377440"/>
          </a:xfrm>
          <a:prstGeom prst="rect">
            <a:avLst/>
          </a:prstGeom>
          <a:noFill/>
          <a:ln/>
        </p:spPr>
        <p:txBody>
          <a:bodyPr wrap="square" lIns="0" tIns="0" rIns="0" bIns="0" rtlCol="0" anchor="ctr"/>
          <a:lstStyle/>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Médical &amp; public (condition imposée), licence ouverte</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Léger → budget laptop-GPU : on peut entraîner teacher + student + variantes KD</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Convertible en nuages de points : échantillonnage de voxels pondéré par l'intensité → (x, y, z, intensité)</a:t>
            </a:r>
            <a:endParaRPr lang="en-US" sz="1550" dirty="0"/>
          </a:p>
          <a:p>
            <a:pPr marL="228600" indent="-228600">
              <a:spcAft>
                <a:spcPts val="700"/>
              </a:spcAft>
              <a:buSzPct val="100000"/>
              <a:buChar char="•"/>
            </a:pPr>
            <a:r>
              <a:rPr lang="en-US" sz="1550" dirty="0">
                <a:solidFill>
                  <a:srgbClr val="16323D"/>
                </a:solidFill>
                <a:latin typeface="Calibri" pitchFamily="34" charset="0"/>
                <a:ea typeface="Calibri" pitchFamily="34" charset="-122"/>
                <a:cs typeface="Calibri" pitchFamily="34" charset="-120"/>
              </a:rPr>
              <a:t>Idéal pour le sous-échantillonnage : nuage dense 1024 pts, puis on retire des points au test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Des volumes CT aux nuages de points</a:t>
            </a:r>
            <a:endParaRPr lang="en-US" sz="3200" dirty="0"/>
          </a:p>
        </p:txBody>
      </p:sp>
      <p:sp>
        <p:nvSpPr>
          <p:cNvPr id="3" name="Shape 1"/>
          <p:cNvSpPr/>
          <p:nvPr/>
        </p:nvSpPr>
        <p:spPr>
          <a:xfrm>
            <a:off x="54864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4" name="Shape 2"/>
          <p:cNvSpPr/>
          <p:nvPr/>
        </p:nvSpPr>
        <p:spPr>
          <a:xfrm>
            <a:off x="1572768" y="1965960"/>
            <a:ext cx="603504" cy="603504"/>
          </a:xfrm>
          <a:prstGeom prst="ellipse">
            <a:avLst/>
          </a:prstGeom>
          <a:solidFill>
            <a:srgbClr val="1C7293"/>
          </a:solidFill>
          <a:ln/>
        </p:spPr>
      </p:sp>
      <p:sp>
        <p:nvSpPr>
          <p:cNvPr id="5" name="Text 3"/>
          <p:cNvSpPr txBox="1"/>
          <p:nvPr/>
        </p:nvSpPr>
        <p:spPr>
          <a:xfrm>
            <a:off x="157276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64008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Volume 28³</a:t>
            </a:r>
            <a:endParaRPr lang="en-US" sz="1700" dirty="0"/>
          </a:p>
        </p:txBody>
      </p:sp>
      <p:sp>
        <p:nvSpPr>
          <p:cNvPr id="7" name="Text 5"/>
          <p:cNvSpPr txBox="1"/>
          <p:nvPr/>
        </p:nvSpPr>
        <p:spPr>
          <a:xfrm>
            <a:off x="68580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intensités CT (0–255)</a:t>
            </a:r>
            <a:endParaRPr lang="en-US" sz="1300" dirty="0"/>
          </a:p>
        </p:txBody>
      </p:sp>
      <p:sp>
        <p:nvSpPr>
          <p:cNvPr id="8" name="Text 6"/>
          <p:cNvSpPr txBox="1"/>
          <p:nvPr/>
        </p:nvSpPr>
        <p:spPr>
          <a:xfrm>
            <a:off x="3182112" y="2651760"/>
            <a:ext cx="274320" cy="548640"/>
          </a:xfrm>
          <a:prstGeom prst="rect">
            <a:avLst/>
          </a:prstGeom>
          <a:noFill/>
          <a:ln/>
        </p:spPr>
        <p:txBody>
          <a:bodyPr wrap="square" lIns="0" tIns="0" rIns="0" bIns="0" rtlCol="0" anchor="ctr"/>
          <a:lstStyle/>
          <a:p>
            <a:pPr algn="ctr" indent="0" marL="0">
              <a:buNone/>
            </a:pPr>
            <a:r>
              <a:rPr lang="en-US" sz="2600" b="1" dirty="0">
                <a:solidFill>
                  <a:srgbClr val="2EC4B6"/>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342900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10" name="Shape 8"/>
          <p:cNvSpPr/>
          <p:nvPr/>
        </p:nvSpPr>
        <p:spPr>
          <a:xfrm>
            <a:off x="4453128" y="1965960"/>
            <a:ext cx="603504" cy="603504"/>
          </a:xfrm>
          <a:prstGeom prst="ellipse">
            <a:avLst/>
          </a:prstGeom>
          <a:solidFill>
            <a:srgbClr val="1C7293"/>
          </a:solidFill>
          <a:ln/>
        </p:spPr>
      </p:sp>
      <p:sp>
        <p:nvSpPr>
          <p:cNvPr id="11" name="Text 9"/>
          <p:cNvSpPr txBox="1"/>
          <p:nvPr/>
        </p:nvSpPr>
        <p:spPr>
          <a:xfrm>
            <a:off x="445312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352044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Échantillonnage</a:t>
            </a:r>
            <a:endParaRPr lang="en-US" sz="1700" dirty="0"/>
          </a:p>
        </p:txBody>
      </p:sp>
      <p:sp>
        <p:nvSpPr>
          <p:cNvPr id="13" name="Text 11"/>
          <p:cNvSpPr txBox="1"/>
          <p:nvPr/>
        </p:nvSpPr>
        <p:spPr>
          <a:xfrm>
            <a:off x="356616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voxels pondérés par l'intensité</a:t>
            </a:r>
            <a:endParaRPr lang="en-US" sz="1300" dirty="0"/>
          </a:p>
        </p:txBody>
      </p:sp>
      <p:sp>
        <p:nvSpPr>
          <p:cNvPr id="14" name="Text 12"/>
          <p:cNvSpPr txBox="1"/>
          <p:nvPr/>
        </p:nvSpPr>
        <p:spPr>
          <a:xfrm>
            <a:off x="6062472" y="2651760"/>
            <a:ext cx="274320" cy="548640"/>
          </a:xfrm>
          <a:prstGeom prst="rect">
            <a:avLst/>
          </a:prstGeom>
          <a:noFill/>
          <a:ln/>
        </p:spPr>
        <p:txBody>
          <a:bodyPr wrap="square" lIns="0" tIns="0" rIns="0" bIns="0" rtlCol="0" anchor="ctr"/>
          <a:lstStyle/>
          <a:p>
            <a:pPr algn="ctr" indent="0" marL="0">
              <a:buNone/>
            </a:pPr>
            <a:r>
              <a:rPr lang="en-US" sz="2600" b="1" dirty="0">
                <a:solidFill>
                  <a:srgbClr val="2EC4B6"/>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30936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16" name="Shape 14"/>
          <p:cNvSpPr/>
          <p:nvPr/>
        </p:nvSpPr>
        <p:spPr>
          <a:xfrm>
            <a:off x="7333488" y="1965960"/>
            <a:ext cx="603504" cy="603504"/>
          </a:xfrm>
          <a:prstGeom prst="ellipse">
            <a:avLst/>
          </a:prstGeom>
          <a:solidFill>
            <a:srgbClr val="1C7293"/>
          </a:solidFill>
          <a:ln/>
        </p:spPr>
      </p:sp>
      <p:sp>
        <p:nvSpPr>
          <p:cNvPr id="17" name="Text 15"/>
          <p:cNvSpPr txBox="1"/>
          <p:nvPr/>
        </p:nvSpPr>
        <p:spPr>
          <a:xfrm>
            <a:off x="733348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640080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Nuage dense</a:t>
            </a:r>
            <a:endParaRPr lang="en-US" sz="1700" dirty="0"/>
          </a:p>
        </p:txBody>
      </p:sp>
      <p:sp>
        <p:nvSpPr>
          <p:cNvPr id="19" name="Text 17"/>
          <p:cNvSpPr txBox="1"/>
          <p:nvPr/>
        </p:nvSpPr>
        <p:spPr>
          <a:xfrm>
            <a:off x="644652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1024 pts · (x, y, z, I)</a:t>
            </a:r>
            <a:endParaRPr lang="en-US" sz="1300" dirty="0"/>
          </a:p>
        </p:txBody>
      </p:sp>
      <p:sp>
        <p:nvSpPr>
          <p:cNvPr id="20" name="Text 18"/>
          <p:cNvSpPr txBox="1"/>
          <p:nvPr/>
        </p:nvSpPr>
        <p:spPr>
          <a:xfrm>
            <a:off x="8942832" y="2651760"/>
            <a:ext cx="274320" cy="548640"/>
          </a:xfrm>
          <a:prstGeom prst="rect">
            <a:avLst/>
          </a:prstGeom>
          <a:noFill/>
          <a:ln/>
        </p:spPr>
        <p:txBody>
          <a:bodyPr wrap="square" lIns="0" tIns="0" rIns="0" bIns="0" rtlCol="0" anchor="ctr"/>
          <a:lstStyle/>
          <a:p>
            <a:pPr algn="ctr" indent="0" marL="0">
              <a:buNone/>
            </a:pPr>
            <a:r>
              <a:rPr lang="en-US" sz="2600" b="1" dirty="0">
                <a:solidFill>
                  <a:srgbClr val="2EC4B6"/>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9189720" y="1737360"/>
            <a:ext cx="2651760" cy="2286000"/>
          </a:xfrm>
          <a:prstGeom prst="roundRect">
            <a:avLst>
              <a:gd name="adj" fmla="val 3600"/>
            </a:avLst>
          </a:prstGeom>
          <a:solidFill>
            <a:srgbClr val="F2F6F7"/>
          </a:solidFill>
          <a:ln/>
          <a:effectLst>
            <a:outerShdw sx="100000" sy="100000" kx="0" ky="0" algn="bl" rotWithShape="0" blurRad="88900" dist="25400" dir="5400000">
              <a:srgbClr val="9AAEB5">
                <a:alpha val="35000"/>
              </a:srgbClr>
            </a:outerShdw>
          </a:effectLst>
        </p:spPr>
      </p:sp>
      <p:sp>
        <p:nvSpPr>
          <p:cNvPr id="22" name="Shape 20"/>
          <p:cNvSpPr/>
          <p:nvPr/>
        </p:nvSpPr>
        <p:spPr>
          <a:xfrm>
            <a:off x="10213848" y="1965960"/>
            <a:ext cx="603504" cy="603504"/>
          </a:xfrm>
          <a:prstGeom prst="ellipse">
            <a:avLst/>
          </a:prstGeom>
          <a:solidFill>
            <a:srgbClr val="E76F51"/>
          </a:solidFill>
          <a:ln/>
        </p:spPr>
      </p:sp>
      <p:sp>
        <p:nvSpPr>
          <p:cNvPr id="23" name="Text 21"/>
          <p:cNvSpPr txBox="1"/>
          <p:nvPr/>
        </p:nvSpPr>
        <p:spPr>
          <a:xfrm>
            <a:off x="10213848" y="196596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9281160" y="2743200"/>
            <a:ext cx="2468880" cy="457200"/>
          </a:xfrm>
          <a:prstGeom prst="rect">
            <a:avLst/>
          </a:prstGeom>
          <a:noFill/>
          <a:ln/>
        </p:spPr>
        <p:txBody>
          <a:bodyPr wrap="square" lIns="0" tIns="0" rIns="0" bIns="0" rtlCol="0" anchor="ctr"/>
          <a:lstStyle/>
          <a:p>
            <a:pPr algn="ctr" indent="0" marL="0">
              <a:buNone/>
            </a:pPr>
            <a:r>
              <a:rPr lang="en-US" sz="1700" b="1" dirty="0">
                <a:solidFill>
                  <a:srgbClr val="0B3C5D"/>
                </a:solidFill>
                <a:latin typeface="Cambria" pitchFamily="34" charset="0"/>
                <a:ea typeface="Cambria" pitchFamily="34" charset="-122"/>
                <a:cs typeface="Cambria" pitchFamily="34" charset="-120"/>
              </a:rPr>
              <a:t>Sous-échantillonnage</a:t>
            </a:r>
            <a:endParaRPr lang="en-US" sz="1700" dirty="0"/>
          </a:p>
        </p:txBody>
      </p:sp>
      <p:sp>
        <p:nvSpPr>
          <p:cNvPr id="25" name="Text 23"/>
          <p:cNvSpPr txBox="1"/>
          <p:nvPr/>
        </p:nvSpPr>
        <p:spPr>
          <a:xfrm>
            <a:off x="9326880" y="3200400"/>
            <a:ext cx="2377440" cy="731520"/>
          </a:xfrm>
          <a:prstGeom prst="rect">
            <a:avLst/>
          </a:prstGeom>
          <a:noFill/>
          <a:ln/>
        </p:spPr>
        <p:txBody>
          <a:bodyPr wrap="square" lIns="0" tIns="0" rIns="0" bIns="0" rtlCol="0" anchor="ctr"/>
          <a:lstStyle/>
          <a:p>
            <a:pPr algn="ctr" indent="0" marL="0">
              <a:buNone/>
            </a:pPr>
            <a:r>
              <a:rPr lang="en-US" sz="1300" dirty="0">
                <a:solidFill>
                  <a:srgbClr val="6B7B84"/>
                </a:solidFill>
                <a:latin typeface="Calibri" pitchFamily="34" charset="0"/>
                <a:ea typeface="Calibri" pitchFamily="34" charset="-122"/>
                <a:cs typeface="Calibri" pitchFamily="34" charset="-120"/>
              </a:rPr>
              <a:t>on garde N points au test</a:t>
            </a:r>
            <a:endParaRPr lang="en-US" sz="1300" dirty="0"/>
          </a:p>
        </p:txBody>
      </p:sp>
      <p:sp>
        <p:nvSpPr>
          <p:cNvPr id="26" name="Shape 24"/>
          <p:cNvSpPr/>
          <p:nvPr/>
        </p:nvSpPr>
        <p:spPr>
          <a:xfrm>
            <a:off x="6473121" y="5530060"/>
            <a:ext cx="144776" cy="144776"/>
          </a:xfrm>
          <a:prstGeom prst="ellipse">
            <a:avLst/>
          </a:prstGeom>
          <a:solidFill>
            <a:srgbClr val="1C7293">
              <a:alpha val="37566"/>
            </a:srgbClr>
          </a:solidFill>
          <a:ln/>
        </p:spPr>
      </p:sp>
      <p:sp>
        <p:nvSpPr>
          <p:cNvPr id="27" name="Shape 25"/>
          <p:cNvSpPr/>
          <p:nvPr/>
        </p:nvSpPr>
        <p:spPr>
          <a:xfrm>
            <a:off x="5951473" y="5519260"/>
            <a:ext cx="61787" cy="61787"/>
          </a:xfrm>
          <a:prstGeom prst="ellipse">
            <a:avLst/>
          </a:prstGeom>
          <a:solidFill>
            <a:srgbClr val="1C7293">
              <a:alpha val="73489"/>
            </a:srgbClr>
          </a:solidFill>
          <a:ln/>
        </p:spPr>
      </p:sp>
      <p:sp>
        <p:nvSpPr>
          <p:cNvPr id="28" name="Shape 26"/>
          <p:cNvSpPr/>
          <p:nvPr/>
        </p:nvSpPr>
        <p:spPr>
          <a:xfrm>
            <a:off x="6064001" y="4683931"/>
            <a:ext cx="84027" cy="84027"/>
          </a:xfrm>
          <a:prstGeom prst="ellipse">
            <a:avLst/>
          </a:prstGeom>
          <a:solidFill>
            <a:srgbClr val="1C7293">
              <a:alpha val="63291"/>
            </a:srgbClr>
          </a:solidFill>
          <a:ln/>
        </p:spPr>
      </p:sp>
      <p:sp>
        <p:nvSpPr>
          <p:cNvPr id="29" name="Shape 27"/>
          <p:cNvSpPr/>
          <p:nvPr/>
        </p:nvSpPr>
        <p:spPr>
          <a:xfrm>
            <a:off x="5153026" y="5977228"/>
            <a:ext cx="38973" cy="38973"/>
          </a:xfrm>
          <a:prstGeom prst="ellipse">
            <a:avLst/>
          </a:prstGeom>
          <a:solidFill>
            <a:srgbClr val="1C7293">
              <a:alpha val="54780"/>
            </a:srgbClr>
          </a:solidFill>
          <a:ln/>
        </p:spPr>
      </p:sp>
      <p:sp>
        <p:nvSpPr>
          <p:cNvPr id="30" name="Shape 28"/>
          <p:cNvSpPr/>
          <p:nvPr/>
        </p:nvSpPr>
        <p:spPr>
          <a:xfrm>
            <a:off x="5761720" y="5283832"/>
            <a:ext cx="79678" cy="79678"/>
          </a:xfrm>
          <a:prstGeom prst="ellipse">
            <a:avLst/>
          </a:prstGeom>
          <a:solidFill>
            <a:srgbClr val="1C7293">
              <a:alpha val="32655"/>
            </a:srgbClr>
          </a:solidFill>
          <a:ln/>
        </p:spPr>
      </p:sp>
      <p:sp>
        <p:nvSpPr>
          <p:cNvPr id="31" name="Shape 29"/>
          <p:cNvSpPr/>
          <p:nvPr/>
        </p:nvSpPr>
        <p:spPr>
          <a:xfrm>
            <a:off x="6744424" y="5033687"/>
            <a:ext cx="73452" cy="73452"/>
          </a:xfrm>
          <a:prstGeom prst="ellipse">
            <a:avLst/>
          </a:prstGeom>
          <a:solidFill>
            <a:srgbClr val="1C7293">
              <a:alpha val="41730"/>
            </a:srgbClr>
          </a:solidFill>
          <a:ln/>
        </p:spPr>
      </p:sp>
      <p:sp>
        <p:nvSpPr>
          <p:cNvPr id="32" name="Shape 30"/>
          <p:cNvSpPr/>
          <p:nvPr/>
        </p:nvSpPr>
        <p:spPr>
          <a:xfrm>
            <a:off x="5703526" y="5304496"/>
            <a:ext cx="122739" cy="122739"/>
          </a:xfrm>
          <a:prstGeom prst="ellipse">
            <a:avLst/>
          </a:prstGeom>
          <a:solidFill>
            <a:srgbClr val="1C7293">
              <a:alpha val="51804"/>
            </a:srgbClr>
          </a:solidFill>
          <a:ln/>
        </p:spPr>
      </p:sp>
      <p:sp>
        <p:nvSpPr>
          <p:cNvPr id="33" name="Shape 31"/>
          <p:cNvSpPr/>
          <p:nvPr/>
        </p:nvSpPr>
        <p:spPr>
          <a:xfrm>
            <a:off x="6391347" y="4951343"/>
            <a:ext cx="123629" cy="123629"/>
          </a:xfrm>
          <a:prstGeom prst="ellipse">
            <a:avLst/>
          </a:prstGeom>
          <a:solidFill>
            <a:srgbClr val="1C7293">
              <a:alpha val="67697"/>
            </a:srgbClr>
          </a:solidFill>
          <a:ln/>
        </p:spPr>
      </p:sp>
      <p:sp>
        <p:nvSpPr>
          <p:cNvPr id="34" name="Shape 32"/>
          <p:cNvSpPr/>
          <p:nvPr/>
        </p:nvSpPr>
        <p:spPr>
          <a:xfrm>
            <a:off x="6007111" y="5027040"/>
            <a:ext cx="159966" cy="159966"/>
          </a:xfrm>
          <a:prstGeom prst="ellipse">
            <a:avLst/>
          </a:prstGeom>
          <a:solidFill>
            <a:srgbClr val="1C7293">
              <a:alpha val="53896"/>
            </a:srgbClr>
          </a:solidFill>
          <a:ln/>
        </p:spPr>
      </p:sp>
      <p:sp>
        <p:nvSpPr>
          <p:cNvPr id="35" name="Shape 33"/>
          <p:cNvSpPr/>
          <p:nvPr/>
        </p:nvSpPr>
        <p:spPr>
          <a:xfrm>
            <a:off x="5132975" y="4796504"/>
            <a:ext cx="117995" cy="117995"/>
          </a:xfrm>
          <a:prstGeom prst="ellipse">
            <a:avLst/>
          </a:prstGeom>
          <a:solidFill>
            <a:srgbClr val="1C7293">
              <a:alpha val="58827"/>
            </a:srgbClr>
          </a:solidFill>
          <a:ln/>
        </p:spPr>
      </p:sp>
      <p:sp>
        <p:nvSpPr>
          <p:cNvPr id="36" name="Shape 34"/>
          <p:cNvSpPr/>
          <p:nvPr/>
        </p:nvSpPr>
        <p:spPr>
          <a:xfrm>
            <a:off x="5780907" y="6208507"/>
            <a:ext cx="67435" cy="67435"/>
          </a:xfrm>
          <a:prstGeom prst="ellipse">
            <a:avLst/>
          </a:prstGeom>
          <a:solidFill>
            <a:srgbClr val="1C7293">
              <a:alpha val="72626"/>
            </a:srgbClr>
          </a:solidFill>
          <a:ln/>
        </p:spPr>
      </p:sp>
      <p:sp>
        <p:nvSpPr>
          <p:cNvPr id="37" name="Shape 35"/>
          <p:cNvSpPr/>
          <p:nvPr/>
        </p:nvSpPr>
        <p:spPr>
          <a:xfrm>
            <a:off x="5344330" y="5814804"/>
            <a:ext cx="146387" cy="146387"/>
          </a:xfrm>
          <a:prstGeom prst="ellipse">
            <a:avLst/>
          </a:prstGeom>
          <a:solidFill>
            <a:srgbClr val="1C7293">
              <a:alpha val="34251"/>
            </a:srgbClr>
          </a:solidFill>
          <a:ln/>
        </p:spPr>
      </p:sp>
      <p:sp>
        <p:nvSpPr>
          <p:cNvPr id="38" name="Shape 36"/>
          <p:cNvSpPr/>
          <p:nvPr/>
        </p:nvSpPr>
        <p:spPr>
          <a:xfrm>
            <a:off x="6437985" y="4968190"/>
            <a:ext cx="152763" cy="152763"/>
          </a:xfrm>
          <a:prstGeom prst="ellipse">
            <a:avLst/>
          </a:prstGeom>
          <a:solidFill>
            <a:srgbClr val="1C7293">
              <a:alpha val="30866"/>
            </a:srgbClr>
          </a:solidFill>
          <a:ln/>
        </p:spPr>
      </p:sp>
      <p:sp>
        <p:nvSpPr>
          <p:cNvPr id="39" name="Shape 37"/>
          <p:cNvSpPr/>
          <p:nvPr/>
        </p:nvSpPr>
        <p:spPr>
          <a:xfrm>
            <a:off x="6433667" y="4993986"/>
            <a:ext cx="60500" cy="60500"/>
          </a:xfrm>
          <a:prstGeom prst="ellipse">
            <a:avLst/>
          </a:prstGeom>
          <a:solidFill>
            <a:srgbClr val="1C7293">
              <a:alpha val="79497"/>
            </a:srgbClr>
          </a:solidFill>
          <a:ln/>
        </p:spPr>
      </p:sp>
      <p:sp>
        <p:nvSpPr>
          <p:cNvPr id="40" name="Shape 38"/>
          <p:cNvSpPr/>
          <p:nvPr/>
        </p:nvSpPr>
        <p:spPr>
          <a:xfrm>
            <a:off x="6233331" y="4624765"/>
            <a:ext cx="160321" cy="160321"/>
          </a:xfrm>
          <a:prstGeom prst="ellipse">
            <a:avLst/>
          </a:prstGeom>
          <a:solidFill>
            <a:srgbClr val="1C7293">
              <a:alpha val="44011"/>
            </a:srgbClr>
          </a:solidFill>
          <a:ln/>
        </p:spPr>
      </p:sp>
      <p:sp>
        <p:nvSpPr>
          <p:cNvPr id="41" name="Shape 39"/>
          <p:cNvSpPr/>
          <p:nvPr/>
        </p:nvSpPr>
        <p:spPr>
          <a:xfrm>
            <a:off x="6524378" y="5060970"/>
            <a:ext cx="88480" cy="88480"/>
          </a:xfrm>
          <a:prstGeom prst="ellipse">
            <a:avLst/>
          </a:prstGeom>
          <a:solidFill>
            <a:srgbClr val="1C7293">
              <a:alpha val="53337"/>
            </a:srgbClr>
          </a:solidFill>
          <a:ln/>
        </p:spPr>
      </p:sp>
      <p:sp>
        <p:nvSpPr>
          <p:cNvPr id="42" name="Shape 40"/>
          <p:cNvSpPr/>
          <p:nvPr/>
        </p:nvSpPr>
        <p:spPr>
          <a:xfrm>
            <a:off x="6747286" y="5853309"/>
            <a:ext cx="112059" cy="112059"/>
          </a:xfrm>
          <a:prstGeom prst="ellipse">
            <a:avLst/>
          </a:prstGeom>
          <a:solidFill>
            <a:srgbClr val="1C7293">
              <a:alpha val="69651"/>
            </a:srgbClr>
          </a:solidFill>
          <a:ln/>
        </p:spPr>
      </p:sp>
      <p:sp>
        <p:nvSpPr>
          <p:cNvPr id="43" name="Shape 41"/>
          <p:cNvSpPr/>
          <p:nvPr/>
        </p:nvSpPr>
        <p:spPr>
          <a:xfrm>
            <a:off x="6622686" y="5585484"/>
            <a:ext cx="63933" cy="63933"/>
          </a:xfrm>
          <a:prstGeom prst="ellipse">
            <a:avLst/>
          </a:prstGeom>
          <a:solidFill>
            <a:srgbClr val="1C7293">
              <a:alpha val="52007"/>
            </a:srgbClr>
          </a:solidFill>
          <a:ln/>
        </p:spPr>
      </p:sp>
      <p:sp>
        <p:nvSpPr>
          <p:cNvPr id="44" name="Shape 42"/>
          <p:cNvSpPr/>
          <p:nvPr/>
        </p:nvSpPr>
        <p:spPr>
          <a:xfrm>
            <a:off x="5682646" y="4979454"/>
            <a:ext cx="90618" cy="90618"/>
          </a:xfrm>
          <a:prstGeom prst="ellipse">
            <a:avLst/>
          </a:prstGeom>
          <a:solidFill>
            <a:srgbClr val="1C7293">
              <a:alpha val="78764"/>
            </a:srgbClr>
          </a:solidFill>
          <a:ln/>
        </p:spPr>
      </p:sp>
      <p:sp>
        <p:nvSpPr>
          <p:cNvPr id="45" name="Shape 43"/>
          <p:cNvSpPr/>
          <p:nvPr/>
        </p:nvSpPr>
        <p:spPr>
          <a:xfrm>
            <a:off x="5284521" y="4705242"/>
            <a:ext cx="131296" cy="131296"/>
          </a:xfrm>
          <a:prstGeom prst="ellipse">
            <a:avLst/>
          </a:prstGeom>
          <a:solidFill>
            <a:srgbClr val="1C7293">
              <a:alpha val="41218"/>
            </a:srgbClr>
          </a:solidFill>
          <a:ln/>
        </p:spPr>
      </p:sp>
      <p:sp>
        <p:nvSpPr>
          <p:cNvPr id="46" name="Shape 44"/>
          <p:cNvSpPr/>
          <p:nvPr/>
        </p:nvSpPr>
        <p:spPr>
          <a:xfrm>
            <a:off x="6465667" y="5095011"/>
            <a:ext cx="140841" cy="140841"/>
          </a:xfrm>
          <a:prstGeom prst="ellipse">
            <a:avLst/>
          </a:prstGeom>
          <a:solidFill>
            <a:srgbClr val="1C7293">
              <a:alpha val="49017"/>
            </a:srgbClr>
          </a:solidFill>
          <a:ln/>
        </p:spPr>
      </p:sp>
      <p:sp>
        <p:nvSpPr>
          <p:cNvPr id="47" name="Shape 45"/>
          <p:cNvSpPr/>
          <p:nvPr/>
        </p:nvSpPr>
        <p:spPr>
          <a:xfrm>
            <a:off x="6077328" y="4611028"/>
            <a:ext cx="73755" cy="73755"/>
          </a:xfrm>
          <a:prstGeom prst="ellipse">
            <a:avLst/>
          </a:prstGeom>
          <a:solidFill>
            <a:srgbClr val="1C7293">
              <a:alpha val="68774"/>
            </a:srgbClr>
          </a:solidFill>
          <a:ln/>
        </p:spPr>
      </p:sp>
      <p:sp>
        <p:nvSpPr>
          <p:cNvPr id="48" name="Shape 46"/>
          <p:cNvSpPr/>
          <p:nvPr/>
        </p:nvSpPr>
        <p:spPr>
          <a:xfrm>
            <a:off x="5306256" y="4939719"/>
            <a:ext cx="160383" cy="160383"/>
          </a:xfrm>
          <a:prstGeom prst="ellipse">
            <a:avLst/>
          </a:prstGeom>
          <a:solidFill>
            <a:srgbClr val="1C7293">
              <a:alpha val="43593"/>
            </a:srgbClr>
          </a:solidFill>
          <a:ln/>
        </p:spPr>
      </p:sp>
      <p:sp>
        <p:nvSpPr>
          <p:cNvPr id="49" name="Shape 47"/>
          <p:cNvSpPr/>
          <p:nvPr/>
        </p:nvSpPr>
        <p:spPr>
          <a:xfrm>
            <a:off x="6200493" y="5125800"/>
            <a:ext cx="91487" cy="91487"/>
          </a:xfrm>
          <a:prstGeom prst="ellipse">
            <a:avLst/>
          </a:prstGeom>
          <a:solidFill>
            <a:srgbClr val="1C7293">
              <a:alpha val="39425"/>
            </a:srgbClr>
          </a:solidFill>
          <a:ln/>
        </p:spPr>
      </p:sp>
      <p:sp>
        <p:nvSpPr>
          <p:cNvPr id="50" name="Text 48"/>
          <p:cNvSpPr txBox="1"/>
          <p:nvPr/>
        </p:nvSpPr>
        <p:spPr>
          <a:xfrm>
            <a:off x="548640" y="5394960"/>
            <a:ext cx="11064240" cy="548640"/>
          </a:xfrm>
          <a:prstGeom prst="rect">
            <a:avLst/>
          </a:prstGeom>
          <a:noFill/>
          <a:ln/>
        </p:spPr>
        <p:txBody>
          <a:bodyPr wrap="square" lIns="0" tIns="0" rIns="0" bIns="0" rtlCol="0" anchor="ctr"/>
          <a:lstStyle/>
          <a:p>
            <a:pPr algn="ctr" indent="0" marL="0">
              <a:buNone/>
            </a:pPr>
            <a:r>
              <a:rPr lang="en-US" sz="1400" i="1" dirty="0">
                <a:solidFill>
                  <a:srgbClr val="6B7B84"/>
                </a:solidFill>
                <a:latin typeface="Calibri" pitchFamily="34" charset="0"/>
                <a:ea typeface="Calibri" pitchFamily="34" charset="-122"/>
                <a:cs typeface="Calibri" pitchFamily="34" charset="-120"/>
              </a:rPr>
              <a:t>Chaque nodule devient un nuage de points : coordonnées centrées et mises à l'échelle (boule unité), intensité en 4ᵉ canal.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Architectures — PointNet (teacher / student)</a:t>
            </a:r>
            <a:endParaRPr lang="en-US" sz="3200" dirty="0"/>
          </a:p>
        </p:txBody>
      </p:sp>
      <p:sp>
        <p:nvSpPr>
          <p:cNvPr id="3" name="Shape 1"/>
          <p:cNvSpPr/>
          <p:nvPr/>
        </p:nvSpPr>
        <p:spPr>
          <a:xfrm>
            <a:off x="548640" y="1554480"/>
            <a:ext cx="5394960" cy="2651760"/>
          </a:xfrm>
          <a:prstGeom prst="roundRect">
            <a:avLst>
              <a:gd name="adj" fmla="val 3103"/>
            </a:avLst>
          </a:prstGeom>
          <a:solidFill>
            <a:srgbClr val="EAF3F3"/>
          </a:solidFill>
          <a:ln/>
          <a:effectLst>
            <a:outerShdw sx="100000" sy="100000" kx="0" ky="0" algn="bl" rotWithShape="0" blurRad="88900" dist="25400" dir="5400000">
              <a:srgbClr val="9AAEB5">
                <a:alpha val="35000"/>
              </a:srgbClr>
            </a:outerShdw>
          </a:effectLst>
        </p:spPr>
      </p:sp>
      <p:sp>
        <p:nvSpPr>
          <p:cNvPr id="4" name="Shape 2"/>
          <p:cNvSpPr/>
          <p:nvPr/>
        </p:nvSpPr>
        <p:spPr>
          <a:xfrm>
            <a:off x="548640" y="1554480"/>
            <a:ext cx="5394960" cy="685800"/>
          </a:xfrm>
          <a:prstGeom prst="roundRect">
            <a:avLst>
              <a:gd name="adj" fmla="val 12000"/>
            </a:avLst>
          </a:prstGeom>
          <a:solidFill>
            <a:srgbClr val="1C7293"/>
          </a:solidFill>
          <a:ln/>
        </p:spPr>
      </p:sp>
      <p:sp>
        <p:nvSpPr>
          <p:cNvPr id="5" name="Text 3"/>
          <p:cNvSpPr txBox="1"/>
          <p:nvPr/>
        </p:nvSpPr>
        <p:spPr>
          <a:xfrm>
            <a:off x="822960" y="1554480"/>
            <a:ext cx="4846320" cy="6858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Teacher</a:t>
            </a:r>
            <a:endParaRPr lang="en-US" sz="2000" dirty="0"/>
          </a:p>
        </p:txBody>
      </p:sp>
      <p:sp>
        <p:nvSpPr>
          <p:cNvPr id="6" name="Text 4"/>
          <p:cNvSpPr txBox="1"/>
          <p:nvPr/>
        </p:nvSpPr>
        <p:spPr>
          <a:xfrm>
            <a:off x="822960" y="2423160"/>
            <a:ext cx="4846320" cy="822960"/>
          </a:xfrm>
          <a:prstGeom prst="rect">
            <a:avLst/>
          </a:prstGeom>
          <a:noFill/>
          <a:ln/>
        </p:spPr>
        <p:txBody>
          <a:bodyPr wrap="square" lIns="0" tIns="0" rIns="0" bIns="0" rtlCol="0" anchor="ctr"/>
          <a:lstStyle/>
          <a:p>
            <a:pPr indent="0" marL="0">
              <a:buNone/>
            </a:pPr>
            <a:r>
              <a:rPr lang="en-US" sz="4000" b="1" dirty="0">
                <a:solidFill>
                  <a:srgbClr val="1C7293"/>
                </a:solidFill>
                <a:latin typeface="Cambria" pitchFamily="34" charset="0"/>
                <a:ea typeface="Cambria" pitchFamily="34" charset="-122"/>
                <a:cs typeface="Cambria" pitchFamily="34" charset="-120"/>
              </a:rPr>
              <a:t>0.8 M params</a:t>
            </a:r>
            <a:endParaRPr lang="en-US" sz="4000" dirty="0"/>
          </a:p>
        </p:txBody>
      </p:sp>
      <p:sp>
        <p:nvSpPr>
          <p:cNvPr id="7" name="Text 5"/>
          <p:cNvSpPr txBox="1"/>
          <p:nvPr/>
        </p:nvSpPr>
        <p:spPr>
          <a:xfrm>
            <a:off x="822960" y="3291840"/>
            <a:ext cx="4846320" cy="822960"/>
          </a:xfrm>
          <a:prstGeom prst="rect">
            <a:avLst/>
          </a:prstGeom>
          <a:noFill/>
          <a:ln/>
        </p:spPr>
        <p:txBody>
          <a:bodyPr wrap="square" lIns="0" tIns="0" rIns="0" bIns="0" rtlCol="0" anchor="ctr"/>
          <a:lstStyle/>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emb 1024 · haute capacité ·</a:t>
            </a:r>
            <a:endParaRPr lang="en-US" sz="1400" dirty="0"/>
          </a:p>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entraîné sur nuages denses</a:t>
            </a:r>
            <a:endParaRPr lang="en-US" sz="1400" dirty="0"/>
          </a:p>
        </p:txBody>
      </p:sp>
      <p:sp>
        <p:nvSpPr>
          <p:cNvPr id="8" name="Shape 6"/>
          <p:cNvSpPr/>
          <p:nvPr/>
        </p:nvSpPr>
        <p:spPr>
          <a:xfrm>
            <a:off x="6245352" y="1554480"/>
            <a:ext cx="5394960" cy="2651760"/>
          </a:xfrm>
          <a:prstGeom prst="roundRect">
            <a:avLst>
              <a:gd name="adj" fmla="val 3103"/>
            </a:avLst>
          </a:prstGeom>
          <a:solidFill>
            <a:srgbClr val="EAF3F3"/>
          </a:solidFill>
          <a:ln/>
          <a:effectLst>
            <a:outerShdw sx="100000" sy="100000" kx="0" ky="0" algn="bl" rotWithShape="0" blurRad="88900" dist="25400" dir="5400000">
              <a:srgbClr val="9AAEB5">
                <a:alpha val="35000"/>
              </a:srgbClr>
            </a:outerShdw>
          </a:effectLst>
        </p:spPr>
      </p:sp>
      <p:sp>
        <p:nvSpPr>
          <p:cNvPr id="9" name="Shape 7"/>
          <p:cNvSpPr/>
          <p:nvPr/>
        </p:nvSpPr>
        <p:spPr>
          <a:xfrm>
            <a:off x="6245352" y="1554480"/>
            <a:ext cx="5394960" cy="685800"/>
          </a:xfrm>
          <a:prstGeom prst="roundRect">
            <a:avLst>
              <a:gd name="adj" fmla="val 12000"/>
            </a:avLst>
          </a:prstGeom>
          <a:solidFill>
            <a:srgbClr val="E76F51"/>
          </a:solidFill>
          <a:ln/>
        </p:spPr>
      </p:sp>
      <p:sp>
        <p:nvSpPr>
          <p:cNvPr id="10" name="Text 8"/>
          <p:cNvSpPr txBox="1"/>
          <p:nvPr/>
        </p:nvSpPr>
        <p:spPr>
          <a:xfrm>
            <a:off x="6519672" y="1554480"/>
            <a:ext cx="4846320" cy="6858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Student</a:t>
            </a:r>
            <a:endParaRPr lang="en-US" sz="2000" dirty="0"/>
          </a:p>
        </p:txBody>
      </p:sp>
      <p:sp>
        <p:nvSpPr>
          <p:cNvPr id="11" name="Text 9"/>
          <p:cNvSpPr txBox="1"/>
          <p:nvPr/>
        </p:nvSpPr>
        <p:spPr>
          <a:xfrm>
            <a:off x="6519672" y="2423160"/>
            <a:ext cx="4846320" cy="822960"/>
          </a:xfrm>
          <a:prstGeom prst="rect">
            <a:avLst/>
          </a:prstGeom>
          <a:noFill/>
          <a:ln/>
        </p:spPr>
        <p:txBody>
          <a:bodyPr wrap="square" lIns="0" tIns="0" rIns="0" bIns="0" rtlCol="0" anchor="ctr"/>
          <a:lstStyle/>
          <a:p>
            <a:pPr indent="0" marL="0">
              <a:buNone/>
            </a:pPr>
            <a:r>
              <a:rPr lang="en-US" sz="4000" b="1" dirty="0">
                <a:solidFill>
                  <a:srgbClr val="E76F51"/>
                </a:solidFill>
                <a:latin typeface="Cambria" pitchFamily="34" charset="0"/>
                <a:ea typeface="Cambria" pitchFamily="34" charset="-122"/>
                <a:cs typeface="Cambria" pitchFamily="34" charset="-120"/>
              </a:rPr>
              <a:t>54 k params</a:t>
            </a:r>
            <a:endParaRPr lang="en-US" sz="4000" dirty="0"/>
          </a:p>
        </p:txBody>
      </p:sp>
      <p:sp>
        <p:nvSpPr>
          <p:cNvPr id="12" name="Text 10"/>
          <p:cNvSpPr txBox="1"/>
          <p:nvPr/>
        </p:nvSpPr>
        <p:spPr>
          <a:xfrm>
            <a:off x="6519672" y="3291840"/>
            <a:ext cx="4846320" cy="822960"/>
          </a:xfrm>
          <a:prstGeom prst="rect">
            <a:avLst/>
          </a:prstGeom>
          <a:noFill/>
          <a:ln/>
        </p:spPr>
        <p:txBody>
          <a:bodyPr wrap="square" lIns="0" tIns="0" rIns="0" bIns="0" rtlCol="0" anchor="ctr"/>
          <a:lstStyle/>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emb 256 · ~15× plus léger ·</a:t>
            </a:r>
            <a:endParaRPr lang="en-US" sz="1400" dirty="0"/>
          </a:p>
          <a:p>
            <a:pPr indent="0" marL="0">
              <a:lnSpc>
                <a:spcPct val="105000"/>
              </a:lnSpc>
              <a:buNone/>
            </a:pPr>
            <a:r>
              <a:rPr lang="en-US" sz="1400" dirty="0">
                <a:solidFill>
                  <a:srgbClr val="16323D"/>
                </a:solidFill>
                <a:latin typeface="Calibri" pitchFamily="34" charset="0"/>
                <a:ea typeface="Calibri" pitchFamily="34" charset="-122"/>
                <a:cs typeface="Calibri" pitchFamily="34" charset="-120"/>
              </a:rPr>
              <a:t>le modèle qu'on veut rendre robuste</a:t>
            </a:r>
            <a:endParaRPr lang="en-US" sz="1400" dirty="0"/>
          </a:p>
        </p:txBody>
      </p:sp>
      <p:sp>
        <p:nvSpPr>
          <p:cNvPr id="13" name="Text 11"/>
          <p:cNvSpPr txBox="1"/>
          <p:nvPr/>
        </p:nvSpPr>
        <p:spPr>
          <a:xfrm>
            <a:off x="548640" y="4434840"/>
            <a:ext cx="11064240" cy="1463040"/>
          </a:xfrm>
          <a:prstGeom prst="rect">
            <a:avLst/>
          </a:prstGeom>
          <a:noFill/>
          <a:ln/>
        </p:spPr>
        <p:txBody>
          <a:bodyPr wrap="square" lIns="0" tIns="0" rIns="0" bIns="0" rtlCol="0" anchor="ctr"/>
          <a:lstStyle/>
          <a:p>
            <a:pPr indent="0" marL="0">
              <a:lnSpc>
                <a:spcPct val="108000"/>
              </a:lnSpc>
              <a:buNone/>
            </a:pPr>
            <a:r>
              <a:rPr lang="en-US" sz="1500" b="1" dirty="0">
                <a:solidFill>
                  <a:srgbClr val="0B3C5D"/>
                </a:solidFill>
                <a:latin typeface="Calibri" pitchFamily="34" charset="0"/>
                <a:ea typeface="Calibri" pitchFamily="34" charset="-122"/>
                <a:cs typeface="Calibri" pitchFamily="34" charset="-120"/>
              </a:rPr>
              <a:t>Pourquoi PointNet : </a:t>
            </a:r>
            <a:pPr indent="0" marL="0">
              <a:lnSpc>
                <a:spcPct val="108000"/>
              </a:lnSpc>
              <a:buNone/>
            </a:pPr>
            <a:r>
              <a:rPr lang="en-US" sz="1500" dirty="0">
                <a:solidFill>
                  <a:srgbClr val="16323D"/>
                </a:solidFill>
                <a:latin typeface="Calibri" pitchFamily="34" charset="0"/>
                <a:ea typeface="Calibri" pitchFamily="34" charset="-122"/>
                <a:cs typeface="Calibri" pitchFamily="34" charset="-120"/>
              </a:rPr>
              <a:t>classifieur canonique, invariant par permutation ; son max-pooling global unique rend la robustesse au sous-échantillonnage facile à analyser ; assez léger pour teacher + student + variantes KD. (DGCNN / Point Transformer = extensions plus lourdes possibles.)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Protocole — robustesse au sous-échantillonnage</a:t>
            </a:r>
            <a:endParaRPr lang="en-US" sz="3200" dirty="0"/>
          </a:p>
        </p:txBody>
      </p:sp>
      <p:sp>
        <p:nvSpPr>
          <p:cNvPr id="3" name="Shape 1"/>
          <p:cNvSpPr/>
          <p:nvPr/>
        </p:nvSpPr>
        <p:spPr>
          <a:xfrm>
            <a:off x="640080" y="1554480"/>
            <a:ext cx="548640" cy="548640"/>
          </a:xfrm>
          <a:prstGeom prst="ellipse">
            <a:avLst/>
          </a:prstGeom>
          <a:solidFill>
            <a:srgbClr val="0B3C5D"/>
          </a:solidFill>
          <a:ln/>
        </p:spPr>
      </p:sp>
      <p:sp>
        <p:nvSpPr>
          <p:cNvPr id="4" name="Text 2"/>
          <p:cNvSpPr txBox="1"/>
          <p:nvPr/>
        </p:nvSpPr>
        <p:spPr>
          <a:xfrm>
            <a:off x="64008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371600" y="1554480"/>
            <a:ext cx="6766560" cy="548640"/>
          </a:xfrm>
          <a:prstGeom prst="rect">
            <a:avLst/>
          </a:prstGeom>
          <a:noFill/>
          <a:ln/>
        </p:spPr>
        <p:txBody>
          <a:bodyPr wrap="square" lIns="0" tIns="0" rIns="0" bIns="0" rtlCol="0" anchor="ctr"/>
          <a:lstStyle/>
          <a:p>
            <a:pPr indent="0" marL="0">
              <a:buNone/>
            </a:pPr>
            <a:r>
              <a:rPr lang="en-US" sz="1550" dirty="0">
                <a:solidFill>
                  <a:srgbClr val="16323D"/>
                </a:solidFill>
                <a:latin typeface="Calibri" pitchFamily="34" charset="0"/>
                <a:ea typeface="Calibri" pitchFamily="34" charset="-122"/>
                <a:cs typeface="Calibri" pitchFamily="34" charset="-120"/>
              </a:rPr>
              <a:t>Entraîner sur les nuages denses (1024 points, légère augmentation par jitter)</a:t>
            </a:r>
            <a:endParaRPr lang="en-US" sz="1550" dirty="0"/>
          </a:p>
        </p:txBody>
      </p:sp>
      <p:sp>
        <p:nvSpPr>
          <p:cNvPr id="6" name="Shape 4"/>
          <p:cNvSpPr/>
          <p:nvPr/>
        </p:nvSpPr>
        <p:spPr>
          <a:xfrm>
            <a:off x="640080" y="2395728"/>
            <a:ext cx="548640" cy="548640"/>
          </a:xfrm>
          <a:prstGeom prst="ellipse">
            <a:avLst/>
          </a:prstGeom>
          <a:solidFill>
            <a:srgbClr val="0B3C5D"/>
          </a:solidFill>
          <a:ln/>
        </p:spPr>
      </p:sp>
      <p:sp>
        <p:nvSpPr>
          <p:cNvPr id="7" name="Text 5"/>
          <p:cNvSpPr txBox="1"/>
          <p:nvPr/>
        </p:nvSpPr>
        <p:spPr>
          <a:xfrm>
            <a:off x="640080" y="23957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1371600" y="2395728"/>
            <a:ext cx="6766560" cy="548640"/>
          </a:xfrm>
          <a:prstGeom prst="rect">
            <a:avLst/>
          </a:prstGeom>
          <a:noFill/>
          <a:ln/>
        </p:spPr>
        <p:txBody>
          <a:bodyPr wrap="square" lIns="0" tIns="0" rIns="0" bIns="0" rtlCol="0" anchor="ctr"/>
          <a:lstStyle/>
          <a:p>
            <a:pPr indent="0" marL="0">
              <a:buNone/>
            </a:pPr>
            <a:r>
              <a:rPr lang="en-US" sz="1550" dirty="0">
                <a:solidFill>
                  <a:srgbClr val="16323D"/>
                </a:solidFill>
                <a:latin typeface="Calibri" pitchFamily="34" charset="0"/>
                <a:ea typeface="Calibri" pitchFamily="34" charset="-122"/>
                <a:cs typeface="Calibri" pitchFamily="34" charset="-120"/>
              </a:rPr>
              <a:t>Au test : garder un sous-ensemble aléatoire de N points du même nuage</a:t>
            </a:r>
            <a:endParaRPr lang="en-US" sz="1550" dirty="0"/>
          </a:p>
        </p:txBody>
      </p:sp>
      <p:sp>
        <p:nvSpPr>
          <p:cNvPr id="9" name="Shape 7"/>
          <p:cNvSpPr/>
          <p:nvPr/>
        </p:nvSpPr>
        <p:spPr>
          <a:xfrm>
            <a:off x="640080" y="3236976"/>
            <a:ext cx="548640" cy="548640"/>
          </a:xfrm>
          <a:prstGeom prst="ellipse">
            <a:avLst/>
          </a:prstGeom>
          <a:solidFill>
            <a:srgbClr val="0B3C5D"/>
          </a:solidFill>
          <a:ln/>
        </p:spPr>
      </p:sp>
      <p:sp>
        <p:nvSpPr>
          <p:cNvPr id="10" name="Text 8"/>
          <p:cNvSpPr txBox="1"/>
          <p:nvPr/>
        </p:nvSpPr>
        <p:spPr>
          <a:xfrm>
            <a:off x="640080" y="3236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1371600" y="3236976"/>
            <a:ext cx="6766560" cy="548640"/>
          </a:xfrm>
          <a:prstGeom prst="rect">
            <a:avLst/>
          </a:prstGeom>
          <a:noFill/>
          <a:ln/>
        </p:spPr>
        <p:txBody>
          <a:bodyPr wrap="square" lIns="0" tIns="0" rIns="0" bIns="0" rtlCol="0" anchor="ctr"/>
          <a:lstStyle/>
          <a:p>
            <a:pPr indent="0" marL="0">
              <a:buNone/>
            </a:pPr>
            <a:r>
              <a:rPr lang="en-US" sz="1550" dirty="0">
                <a:solidFill>
                  <a:srgbClr val="16323D"/>
                </a:solidFill>
                <a:latin typeface="Calibri" pitchFamily="34" charset="0"/>
                <a:ea typeface="Calibri" pitchFamily="34" charset="-122"/>
                <a:cs typeface="Calibri" pitchFamily="34" charset="-120"/>
              </a:rPr>
              <a:t>N ∈ {1024, 512, 256, 128, 64, 32, 16} — on retire de plus en plus de points</a:t>
            </a:r>
            <a:endParaRPr lang="en-US" sz="1550" dirty="0"/>
          </a:p>
        </p:txBody>
      </p:sp>
      <p:sp>
        <p:nvSpPr>
          <p:cNvPr id="12" name="Shape 10"/>
          <p:cNvSpPr/>
          <p:nvPr/>
        </p:nvSpPr>
        <p:spPr>
          <a:xfrm>
            <a:off x="640080" y="4078224"/>
            <a:ext cx="548640" cy="548640"/>
          </a:xfrm>
          <a:prstGeom prst="ellipse">
            <a:avLst/>
          </a:prstGeom>
          <a:solidFill>
            <a:srgbClr val="0B3C5D"/>
          </a:solidFill>
          <a:ln/>
        </p:spPr>
      </p:sp>
      <p:sp>
        <p:nvSpPr>
          <p:cNvPr id="13" name="Text 11"/>
          <p:cNvSpPr txBox="1"/>
          <p:nvPr/>
        </p:nvSpPr>
        <p:spPr>
          <a:xfrm>
            <a:off x="640080" y="407822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4" name="Text 12"/>
          <p:cNvSpPr txBox="1"/>
          <p:nvPr/>
        </p:nvSpPr>
        <p:spPr>
          <a:xfrm>
            <a:off x="1371600" y="4078224"/>
            <a:ext cx="6766560" cy="548640"/>
          </a:xfrm>
          <a:prstGeom prst="rect">
            <a:avLst/>
          </a:prstGeom>
          <a:noFill/>
          <a:ln/>
        </p:spPr>
        <p:txBody>
          <a:bodyPr wrap="square" lIns="0" tIns="0" rIns="0" bIns="0" rtlCol="0" anchor="ctr"/>
          <a:lstStyle/>
          <a:p>
            <a:pPr indent="0" marL="0">
              <a:buNone/>
            </a:pPr>
            <a:r>
              <a:rPr lang="en-US" sz="1550" dirty="0">
                <a:solidFill>
                  <a:srgbClr val="16323D"/>
                </a:solidFill>
                <a:latin typeface="Calibri" pitchFamily="34" charset="0"/>
                <a:ea typeface="Calibri" pitchFamily="34" charset="-122"/>
                <a:cs typeface="Calibri" pitchFamily="34" charset="-120"/>
              </a:rPr>
              <a:t>Mesurer l'AUC à chaque N → la courbe de robustesse</a:t>
            </a:r>
            <a:endParaRPr lang="en-US" sz="1550" dirty="0"/>
          </a:p>
        </p:txBody>
      </p:sp>
      <p:sp>
        <p:nvSpPr>
          <p:cNvPr id="15" name="Shape 13"/>
          <p:cNvSpPr/>
          <p:nvPr/>
        </p:nvSpPr>
        <p:spPr>
          <a:xfrm>
            <a:off x="8458200" y="2011680"/>
            <a:ext cx="1051560" cy="1051560"/>
          </a:xfrm>
          <a:prstGeom prst="roundRect">
            <a:avLst>
              <a:gd name="adj" fmla="val 7826"/>
            </a:avLst>
          </a:prstGeom>
          <a:solidFill>
            <a:srgbClr val="F2F6F7"/>
          </a:solidFill>
          <a:ln/>
          <a:effectLst>
            <a:outerShdw sx="100000" sy="100000" kx="0" ky="0" algn="bl" rotWithShape="0" blurRad="88900" dist="25400" dir="5400000">
              <a:srgbClr val="9AAEB5">
                <a:alpha val="35000"/>
              </a:srgbClr>
            </a:outerShdw>
          </a:effectLst>
        </p:spPr>
      </p:sp>
      <p:sp>
        <p:nvSpPr>
          <p:cNvPr id="16" name="Shape 14"/>
          <p:cNvSpPr/>
          <p:nvPr/>
        </p:nvSpPr>
        <p:spPr>
          <a:xfrm>
            <a:off x="9018161" y="2697608"/>
            <a:ext cx="107361" cy="107361"/>
          </a:xfrm>
          <a:prstGeom prst="ellipse">
            <a:avLst/>
          </a:prstGeom>
          <a:solidFill>
            <a:srgbClr val="1C7293">
              <a:alpha val="64545"/>
            </a:srgbClr>
          </a:solidFill>
          <a:ln/>
        </p:spPr>
      </p:sp>
      <p:sp>
        <p:nvSpPr>
          <p:cNvPr id="17" name="Shape 15"/>
          <p:cNvSpPr/>
          <p:nvPr/>
        </p:nvSpPr>
        <p:spPr>
          <a:xfrm>
            <a:off x="9332491" y="2747491"/>
            <a:ext cx="65689" cy="65689"/>
          </a:xfrm>
          <a:prstGeom prst="ellipse">
            <a:avLst/>
          </a:prstGeom>
          <a:solidFill>
            <a:srgbClr val="1C7293">
              <a:alpha val="54032"/>
            </a:srgbClr>
          </a:solidFill>
          <a:ln/>
        </p:spPr>
      </p:sp>
      <p:sp>
        <p:nvSpPr>
          <p:cNvPr id="18" name="Shape 16"/>
          <p:cNvSpPr/>
          <p:nvPr/>
        </p:nvSpPr>
        <p:spPr>
          <a:xfrm>
            <a:off x="8600584" y="2794960"/>
            <a:ext cx="47680" cy="47680"/>
          </a:xfrm>
          <a:prstGeom prst="ellipse">
            <a:avLst/>
          </a:prstGeom>
          <a:solidFill>
            <a:srgbClr val="1C7293">
              <a:alpha val="30992"/>
            </a:srgbClr>
          </a:solidFill>
          <a:ln/>
        </p:spPr>
      </p:sp>
      <p:sp>
        <p:nvSpPr>
          <p:cNvPr id="19" name="Shape 17"/>
          <p:cNvSpPr/>
          <p:nvPr/>
        </p:nvSpPr>
        <p:spPr>
          <a:xfrm>
            <a:off x="9148816" y="2659390"/>
            <a:ext cx="49475" cy="49475"/>
          </a:xfrm>
          <a:prstGeom prst="ellipse">
            <a:avLst/>
          </a:prstGeom>
          <a:solidFill>
            <a:srgbClr val="1C7293">
              <a:alpha val="48549"/>
            </a:srgbClr>
          </a:solidFill>
          <a:ln/>
        </p:spPr>
      </p:sp>
      <p:sp>
        <p:nvSpPr>
          <p:cNvPr id="20" name="Shape 18"/>
          <p:cNvSpPr/>
          <p:nvPr/>
        </p:nvSpPr>
        <p:spPr>
          <a:xfrm>
            <a:off x="9018924" y="2609698"/>
            <a:ext cx="110818" cy="110818"/>
          </a:xfrm>
          <a:prstGeom prst="ellipse">
            <a:avLst/>
          </a:prstGeom>
          <a:solidFill>
            <a:srgbClr val="1C7293">
              <a:alpha val="35785"/>
            </a:srgbClr>
          </a:solidFill>
          <a:ln/>
        </p:spPr>
      </p:sp>
      <p:sp>
        <p:nvSpPr>
          <p:cNvPr id="21" name="Shape 19"/>
          <p:cNvSpPr/>
          <p:nvPr/>
        </p:nvSpPr>
        <p:spPr>
          <a:xfrm>
            <a:off x="9321211" y="2508568"/>
            <a:ext cx="69577" cy="69577"/>
          </a:xfrm>
          <a:prstGeom prst="ellipse">
            <a:avLst/>
          </a:prstGeom>
          <a:solidFill>
            <a:srgbClr val="1C7293">
              <a:alpha val="48561"/>
            </a:srgbClr>
          </a:solidFill>
          <a:ln/>
        </p:spPr>
      </p:sp>
      <p:sp>
        <p:nvSpPr>
          <p:cNvPr id="22" name="Shape 20"/>
          <p:cNvSpPr/>
          <p:nvPr/>
        </p:nvSpPr>
        <p:spPr>
          <a:xfrm>
            <a:off x="8683775" y="2310835"/>
            <a:ext cx="101403" cy="101403"/>
          </a:xfrm>
          <a:prstGeom prst="ellipse">
            <a:avLst/>
          </a:prstGeom>
          <a:solidFill>
            <a:srgbClr val="1C7293">
              <a:alpha val="34643"/>
            </a:srgbClr>
          </a:solidFill>
          <a:ln/>
        </p:spPr>
      </p:sp>
      <p:sp>
        <p:nvSpPr>
          <p:cNvPr id="23" name="Shape 21"/>
          <p:cNvSpPr/>
          <p:nvPr/>
        </p:nvSpPr>
        <p:spPr>
          <a:xfrm>
            <a:off x="9345543" y="2164386"/>
            <a:ext cx="99155" cy="99155"/>
          </a:xfrm>
          <a:prstGeom prst="ellipse">
            <a:avLst/>
          </a:prstGeom>
          <a:solidFill>
            <a:srgbClr val="1C7293">
              <a:alpha val="67731"/>
            </a:srgbClr>
          </a:solidFill>
          <a:ln/>
        </p:spPr>
      </p:sp>
      <p:sp>
        <p:nvSpPr>
          <p:cNvPr id="24" name="Shape 22"/>
          <p:cNvSpPr/>
          <p:nvPr/>
        </p:nvSpPr>
        <p:spPr>
          <a:xfrm>
            <a:off x="9108060" y="2529795"/>
            <a:ext cx="90092" cy="90092"/>
          </a:xfrm>
          <a:prstGeom prst="ellipse">
            <a:avLst/>
          </a:prstGeom>
          <a:solidFill>
            <a:srgbClr val="1C7293">
              <a:alpha val="32014"/>
            </a:srgbClr>
          </a:solidFill>
          <a:ln/>
        </p:spPr>
      </p:sp>
      <p:sp>
        <p:nvSpPr>
          <p:cNvPr id="25" name="Shape 23"/>
          <p:cNvSpPr/>
          <p:nvPr/>
        </p:nvSpPr>
        <p:spPr>
          <a:xfrm>
            <a:off x="8654962" y="2676890"/>
            <a:ext cx="98287" cy="98287"/>
          </a:xfrm>
          <a:prstGeom prst="ellipse">
            <a:avLst/>
          </a:prstGeom>
          <a:solidFill>
            <a:srgbClr val="1C7293">
              <a:alpha val="74957"/>
            </a:srgbClr>
          </a:solidFill>
          <a:ln/>
        </p:spPr>
      </p:sp>
      <p:sp>
        <p:nvSpPr>
          <p:cNvPr id="26" name="Shape 24"/>
          <p:cNvSpPr/>
          <p:nvPr/>
        </p:nvSpPr>
        <p:spPr>
          <a:xfrm>
            <a:off x="8691056" y="2298375"/>
            <a:ext cx="99276" cy="99276"/>
          </a:xfrm>
          <a:prstGeom prst="ellipse">
            <a:avLst/>
          </a:prstGeom>
          <a:solidFill>
            <a:srgbClr val="1C7293">
              <a:alpha val="35937"/>
            </a:srgbClr>
          </a:solidFill>
          <a:ln/>
        </p:spPr>
      </p:sp>
      <p:sp>
        <p:nvSpPr>
          <p:cNvPr id="27" name="Shape 25"/>
          <p:cNvSpPr/>
          <p:nvPr/>
        </p:nvSpPr>
        <p:spPr>
          <a:xfrm>
            <a:off x="9296866" y="2705880"/>
            <a:ext cx="116433" cy="116433"/>
          </a:xfrm>
          <a:prstGeom prst="ellipse">
            <a:avLst/>
          </a:prstGeom>
          <a:solidFill>
            <a:srgbClr val="1C7293">
              <a:alpha val="41921"/>
            </a:srgbClr>
          </a:solidFill>
          <a:ln/>
        </p:spPr>
      </p:sp>
      <p:sp>
        <p:nvSpPr>
          <p:cNvPr id="28" name="Shape 26"/>
          <p:cNvSpPr/>
          <p:nvPr/>
        </p:nvSpPr>
        <p:spPr>
          <a:xfrm>
            <a:off x="8729652" y="2220296"/>
            <a:ext cx="58219" cy="58219"/>
          </a:xfrm>
          <a:prstGeom prst="ellipse">
            <a:avLst/>
          </a:prstGeom>
          <a:solidFill>
            <a:srgbClr val="1C7293">
              <a:alpha val="69347"/>
            </a:srgbClr>
          </a:solidFill>
          <a:ln/>
        </p:spPr>
      </p:sp>
      <p:sp>
        <p:nvSpPr>
          <p:cNvPr id="29" name="Shape 27"/>
          <p:cNvSpPr/>
          <p:nvPr/>
        </p:nvSpPr>
        <p:spPr>
          <a:xfrm>
            <a:off x="9077503" y="2221694"/>
            <a:ext cx="74846" cy="74846"/>
          </a:xfrm>
          <a:prstGeom prst="ellipse">
            <a:avLst/>
          </a:prstGeom>
          <a:solidFill>
            <a:srgbClr val="1C7293">
              <a:alpha val="46478"/>
            </a:srgbClr>
          </a:solidFill>
          <a:ln/>
        </p:spPr>
      </p:sp>
      <p:sp>
        <p:nvSpPr>
          <p:cNvPr id="30" name="Shape 28"/>
          <p:cNvSpPr/>
          <p:nvPr/>
        </p:nvSpPr>
        <p:spPr>
          <a:xfrm>
            <a:off x="9295989" y="2760904"/>
            <a:ext cx="88362" cy="88362"/>
          </a:xfrm>
          <a:prstGeom prst="ellipse">
            <a:avLst/>
          </a:prstGeom>
          <a:solidFill>
            <a:srgbClr val="1C7293">
              <a:alpha val="46670"/>
            </a:srgbClr>
          </a:solidFill>
          <a:ln/>
        </p:spPr>
      </p:sp>
      <p:sp>
        <p:nvSpPr>
          <p:cNvPr id="31" name="Shape 29"/>
          <p:cNvSpPr/>
          <p:nvPr/>
        </p:nvSpPr>
        <p:spPr>
          <a:xfrm>
            <a:off x="9155780" y="2799134"/>
            <a:ext cx="71696" cy="71696"/>
          </a:xfrm>
          <a:prstGeom prst="ellipse">
            <a:avLst/>
          </a:prstGeom>
          <a:solidFill>
            <a:srgbClr val="1C7293">
              <a:alpha val="34837"/>
            </a:srgbClr>
          </a:solidFill>
          <a:ln/>
        </p:spPr>
      </p:sp>
      <p:sp>
        <p:nvSpPr>
          <p:cNvPr id="32" name="Shape 30"/>
          <p:cNvSpPr/>
          <p:nvPr/>
        </p:nvSpPr>
        <p:spPr>
          <a:xfrm>
            <a:off x="8884284" y="2187544"/>
            <a:ext cx="71701" cy="71701"/>
          </a:xfrm>
          <a:prstGeom prst="ellipse">
            <a:avLst/>
          </a:prstGeom>
          <a:solidFill>
            <a:srgbClr val="1C7293">
              <a:alpha val="79740"/>
            </a:srgbClr>
          </a:solidFill>
          <a:ln/>
        </p:spPr>
      </p:sp>
      <p:sp>
        <p:nvSpPr>
          <p:cNvPr id="33" name="Shape 31"/>
          <p:cNvSpPr/>
          <p:nvPr/>
        </p:nvSpPr>
        <p:spPr>
          <a:xfrm>
            <a:off x="8780220" y="2895097"/>
            <a:ext cx="91355" cy="91355"/>
          </a:xfrm>
          <a:prstGeom prst="ellipse">
            <a:avLst/>
          </a:prstGeom>
          <a:solidFill>
            <a:srgbClr val="1C7293">
              <a:alpha val="70331"/>
            </a:srgbClr>
          </a:solidFill>
          <a:ln/>
        </p:spPr>
      </p:sp>
      <p:sp>
        <p:nvSpPr>
          <p:cNvPr id="34" name="Shape 32"/>
          <p:cNvSpPr/>
          <p:nvPr/>
        </p:nvSpPr>
        <p:spPr>
          <a:xfrm>
            <a:off x="8666182" y="2183678"/>
            <a:ext cx="87831" cy="87831"/>
          </a:xfrm>
          <a:prstGeom prst="ellipse">
            <a:avLst/>
          </a:prstGeom>
          <a:solidFill>
            <a:srgbClr val="1C7293">
              <a:alpha val="79652"/>
            </a:srgbClr>
          </a:solidFill>
          <a:ln/>
        </p:spPr>
      </p:sp>
      <p:sp>
        <p:nvSpPr>
          <p:cNvPr id="35" name="Shape 33"/>
          <p:cNvSpPr/>
          <p:nvPr/>
        </p:nvSpPr>
        <p:spPr>
          <a:xfrm>
            <a:off x="8697653" y="2640774"/>
            <a:ext cx="45982" cy="45982"/>
          </a:xfrm>
          <a:prstGeom prst="ellipse">
            <a:avLst/>
          </a:prstGeom>
          <a:solidFill>
            <a:srgbClr val="1C7293">
              <a:alpha val="65765"/>
            </a:srgbClr>
          </a:solidFill>
          <a:ln/>
        </p:spPr>
      </p:sp>
      <p:sp>
        <p:nvSpPr>
          <p:cNvPr id="36" name="Shape 34"/>
          <p:cNvSpPr/>
          <p:nvPr/>
        </p:nvSpPr>
        <p:spPr>
          <a:xfrm>
            <a:off x="9141251" y="2569078"/>
            <a:ext cx="109860" cy="109860"/>
          </a:xfrm>
          <a:prstGeom prst="ellipse">
            <a:avLst/>
          </a:prstGeom>
          <a:solidFill>
            <a:srgbClr val="1C7293">
              <a:alpha val="38672"/>
            </a:srgbClr>
          </a:solidFill>
          <a:ln/>
        </p:spPr>
      </p:sp>
      <p:sp>
        <p:nvSpPr>
          <p:cNvPr id="37" name="Shape 35"/>
          <p:cNvSpPr/>
          <p:nvPr/>
        </p:nvSpPr>
        <p:spPr>
          <a:xfrm>
            <a:off x="9025887" y="2813051"/>
            <a:ext cx="36965" cy="36965"/>
          </a:xfrm>
          <a:prstGeom prst="ellipse">
            <a:avLst/>
          </a:prstGeom>
          <a:solidFill>
            <a:srgbClr val="1C7293">
              <a:alpha val="47967"/>
            </a:srgbClr>
          </a:solidFill>
          <a:ln/>
        </p:spPr>
      </p:sp>
      <p:sp>
        <p:nvSpPr>
          <p:cNvPr id="38" name="Shape 36"/>
          <p:cNvSpPr/>
          <p:nvPr/>
        </p:nvSpPr>
        <p:spPr>
          <a:xfrm>
            <a:off x="9031563" y="2765293"/>
            <a:ext cx="45258" cy="45258"/>
          </a:xfrm>
          <a:prstGeom prst="ellipse">
            <a:avLst/>
          </a:prstGeom>
          <a:solidFill>
            <a:srgbClr val="1C7293">
              <a:alpha val="75982"/>
            </a:srgbClr>
          </a:solidFill>
          <a:ln/>
        </p:spPr>
      </p:sp>
      <p:sp>
        <p:nvSpPr>
          <p:cNvPr id="39" name="Shape 37"/>
          <p:cNvSpPr/>
          <p:nvPr/>
        </p:nvSpPr>
        <p:spPr>
          <a:xfrm>
            <a:off x="8588794" y="2791786"/>
            <a:ext cx="113420" cy="113420"/>
          </a:xfrm>
          <a:prstGeom prst="ellipse">
            <a:avLst/>
          </a:prstGeom>
          <a:solidFill>
            <a:srgbClr val="1C7293">
              <a:alpha val="64621"/>
            </a:srgbClr>
          </a:solidFill>
          <a:ln/>
        </p:spPr>
      </p:sp>
      <p:sp>
        <p:nvSpPr>
          <p:cNvPr id="40" name="Shape 38"/>
          <p:cNvSpPr/>
          <p:nvPr/>
        </p:nvSpPr>
        <p:spPr>
          <a:xfrm>
            <a:off x="8796560" y="2356629"/>
            <a:ext cx="37081" cy="37081"/>
          </a:xfrm>
          <a:prstGeom prst="ellipse">
            <a:avLst/>
          </a:prstGeom>
          <a:solidFill>
            <a:srgbClr val="1C7293">
              <a:alpha val="44664"/>
            </a:srgbClr>
          </a:solidFill>
          <a:ln/>
        </p:spPr>
      </p:sp>
      <p:sp>
        <p:nvSpPr>
          <p:cNvPr id="41" name="Shape 39"/>
          <p:cNvSpPr/>
          <p:nvPr/>
        </p:nvSpPr>
        <p:spPr>
          <a:xfrm>
            <a:off x="9205570" y="2476152"/>
            <a:ext cx="74028" cy="74028"/>
          </a:xfrm>
          <a:prstGeom prst="ellipse">
            <a:avLst/>
          </a:prstGeom>
          <a:solidFill>
            <a:srgbClr val="1C7293">
              <a:alpha val="33364"/>
            </a:srgbClr>
          </a:solidFill>
          <a:ln/>
        </p:spPr>
      </p:sp>
      <p:sp>
        <p:nvSpPr>
          <p:cNvPr id="42" name="Shape 40"/>
          <p:cNvSpPr/>
          <p:nvPr/>
        </p:nvSpPr>
        <p:spPr>
          <a:xfrm>
            <a:off x="8738734" y="2456349"/>
            <a:ext cx="48823" cy="48823"/>
          </a:xfrm>
          <a:prstGeom prst="ellipse">
            <a:avLst/>
          </a:prstGeom>
          <a:solidFill>
            <a:srgbClr val="1C7293">
              <a:alpha val="34013"/>
            </a:srgbClr>
          </a:solidFill>
          <a:ln/>
        </p:spPr>
      </p:sp>
      <p:sp>
        <p:nvSpPr>
          <p:cNvPr id="43" name="Shape 41"/>
          <p:cNvSpPr/>
          <p:nvPr/>
        </p:nvSpPr>
        <p:spPr>
          <a:xfrm>
            <a:off x="8693415" y="2486413"/>
            <a:ext cx="77342" cy="77342"/>
          </a:xfrm>
          <a:prstGeom prst="ellipse">
            <a:avLst/>
          </a:prstGeom>
          <a:solidFill>
            <a:srgbClr val="1C7293">
              <a:alpha val="59718"/>
            </a:srgbClr>
          </a:solidFill>
          <a:ln/>
        </p:spPr>
      </p:sp>
      <p:sp>
        <p:nvSpPr>
          <p:cNvPr id="44" name="Shape 42"/>
          <p:cNvSpPr/>
          <p:nvPr/>
        </p:nvSpPr>
        <p:spPr>
          <a:xfrm>
            <a:off x="9235014" y="2214720"/>
            <a:ext cx="108976" cy="108976"/>
          </a:xfrm>
          <a:prstGeom prst="ellipse">
            <a:avLst/>
          </a:prstGeom>
          <a:solidFill>
            <a:srgbClr val="1C7293">
              <a:alpha val="64435"/>
            </a:srgbClr>
          </a:solidFill>
          <a:ln/>
        </p:spPr>
      </p:sp>
      <p:sp>
        <p:nvSpPr>
          <p:cNvPr id="45" name="Shape 43"/>
          <p:cNvSpPr/>
          <p:nvPr/>
        </p:nvSpPr>
        <p:spPr>
          <a:xfrm>
            <a:off x="8714875" y="2914805"/>
            <a:ext cx="107097" cy="107097"/>
          </a:xfrm>
          <a:prstGeom prst="ellipse">
            <a:avLst/>
          </a:prstGeom>
          <a:solidFill>
            <a:srgbClr val="1C7293">
              <a:alpha val="38813"/>
            </a:srgbClr>
          </a:solidFill>
          <a:ln/>
        </p:spPr>
      </p:sp>
      <p:sp>
        <p:nvSpPr>
          <p:cNvPr id="46" name="Shape 44"/>
          <p:cNvSpPr/>
          <p:nvPr/>
        </p:nvSpPr>
        <p:spPr>
          <a:xfrm>
            <a:off x="8702479" y="2293412"/>
            <a:ext cx="84585" cy="84585"/>
          </a:xfrm>
          <a:prstGeom prst="ellipse">
            <a:avLst/>
          </a:prstGeom>
          <a:solidFill>
            <a:srgbClr val="1C7293">
              <a:alpha val="54083"/>
            </a:srgbClr>
          </a:solidFill>
          <a:ln/>
        </p:spPr>
      </p:sp>
      <p:sp>
        <p:nvSpPr>
          <p:cNvPr id="47" name="Shape 45"/>
          <p:cNvSpPr/>
          <p:nvPr/>
        </p:nvSpPr>
        <p:spPr>
          <a:xfrm>
            <a:off x="9008657" y="2228742"/>
            <a:ext cx="87691" cy="87691"/>
          </a:xfrm>
          <a:prstGeom prst="ellipse">
            <a:avLst/>
          </a:prstGeom>
          <a:solidFill>
            <a:srgbClr val="1C7293">
              <a:alpha val="38403"/>
            </a:srgbClr>
          </a:solidFill>
          <a:ln/>
        </p:spPr>
      </p:sp>
      <p:sp>
        <p:nvSpPr>
          <p:cNvPr id="48" name="Shape 46"/>
          <p:cNvSpPr/>
          <p:nvPr/>
        </p:nvSpPr>
        <p:spPr>
          <a:xfrm>
            <a:off x="9282992" y="2778864"/>
            <a:ext cx="78514" cy="78514"/>
          </a:xfrm>
          <a:prstGeom prst="ellipse">
            <a:avLst/>
          </a:prstGeom>
          <a:solidFill>
            <a:srgbClr val="1C7293">
              <a:alpha val="73742"/>
            </a:srgbClr>
          </a:solidFill>
          <a:ln/>
        </p:spPr>
      </p:sp>
      <p:sp>
        <p:nvSpPr>
          <p:cNvPr id="49" name="Shape 47"/>
          <p:cNvSpPr/>
          <p:nvPr/>
        </p:nvSpPr>
        <p:spPr>
          <a:xfrm>
            <a:off x="9112880" y="2548786"/>
            <a:ext cx="108275" cy="108275"/>
          </a:xfrm>
          <a:prstGeom prst="ellipse">
            <a:avLst/>
          </a:prstGeom>
          <a:solidFill>
            <a:srgbClr val="1C7293">
              <a:alpha val="79205"/>
            </a:srgbClr>
          </a:solidFill>
          <a:ln/>
        </p:spPr>
      </p:sp>
      <p:sp>
        <p:nvSpPr>
          <p:cNvPr id="50" name="Shape 48"/>
          <p:cNvSpPr/>
          <p:nvPr/>
        </p:nvSpPr>
        <p:spPr>
          <a:xfrm>
            <a:off x="8650539" y="2518083"/>
            <a:ext cx="106684" cy="106684"/>
          </a:xfrm>
          <a:prstGeom prst="ellipse">
            <a:avLst/>
          </a:prstGeom>
          <a:solidFill>
            <a:srgbClr val="1C7293">
              <a:alpha val="50499"/>
            </a:srgbClr>
          </a:solidFill>
          <a:ln/>
        </p:spPr>
      </p:sp>
      <p:sp>
        <p:nvSpPr>
          <p:cNvPr id="51" name="Shape 49"/>
          <p:cNvSpPr/>
          <p:nvPr/>
        </p:nvSpPr>
        <p:spPr>
          <a:xfrm>
            <a:off x="9189804" y="2547317"/>
            <a:ext cx="39358" cy="39358"/>
          </a:xfrm>
          <a:prstGeom prst="ellipse">
            <a:avLst/>
          </a:prstGeom>
          <a:solidFill>
            <a:srgbClr val="1C7293">
              <a:alpha val="40163"/>
            </a:srgbClr>
          </a:solidFill>
          <a:ln/>
        </p:spPr>
      </p:sp>
      <p:sp>
        <p:nvSpPr>
          <p:cNvPr id="52" name="Shape 50"/>
          <p:cNvSpPr/>
          <p:nvPr/>
        </p:nvSpPr>
        <p:spPr>
          <a:xfrm>
            <a:off x="9168107" y="2589035"/>
            <a:ext cx="109884" cy="109884"/>
          </a:xfrm>
          <a:prstGeom prst="ellipse">
            <a:avLst/>
          </a:prstGeom>
          <a:solidFill>
            <a:srgbClr val="1C7293">
              <a:alpha val="34634"/>
            </a:srgbClr>
          </a:solidFill>
          <a:ln/>
        </p:spPr>
      </p:sp>
      <p:sp>
        <p:nvSpPr>
          <p:cNvPr id="53" name="Shape 51"/>
          <p:cNvSpPr/>
          <p:nvPr/>
        </p:nvSpPr>
        <p:spPr>
          <a:xfrm>
            <a:off x="9247322" y="2501250"/>
            <a:ext cx="104077" cy="104077"/>
          </a:xfrm>
          <a:prstGeom prst="ellipse">
            <a:avLst/>
          </a:prstGeom>
          <a:solidFill>
            <a:srgbClr val="1C7293">
              <a:alpha val="76251"/>
            </a:srgbClr>
          </a:solidFill>
          <a:ln/>
        </p:spPr>
      </p:sp>
      <p:sp>
        <p:nvSpPr>
          <p:cNvPr id="54" name="Shape 52"/>
          <p:cNvSpPr/>
          <p:nvPr/>
        </p:nvSpPr>
        <p:spPr>
          <a:xfrm>
            <a:off x="8602349" y="2807771"/>
            <a:ext cx="59265" cy="59265"/>
          </a:xfrm>
          <a:prstGeom prst="ellipse">
            <a:avLst/>
          </a:prstGeom>
          <a:solidFill>
            <a:srgbClr val="1C7293">
              <a:alpha val="73857"/>
            </a:srgbClr>
          </a:solidFill>
          <a:ln/>
        </p:spPr>
      </p:sp>
      <p:sp>
        <p:nvSpPr>
          <p:cNvPr id="55" name="Shape 53"/>
          <p:cNvSpPr/>
          <p:nvPr/>
        </p:nvSpPr>
        <p:spPr>
          <a:xfrm>
            <a:off x="8686937" y="2437856"/>
            <a:ext cx="43659" cy="43659"/>
          </a:xfrm>
          <a:prstGeom prst="ellipse">
            <a:avLst/>
          </a:prstGeom>
          <a:solidFill>
            <a:srgbClr val="1C7293">
              <a:alpha val="53480"/>
            </a:srgbClr>
          </a:solidFill>
          <a:ln/>
        </p:spPr>
      </p:sp>
      <p:sp>
        <p:nvSpPr>
          <p:cNvPr id="56" name="Text 54"/>
          <p:cNvSpPr txBox="1"/>
          <p:nvPr/>
        </p:nvSpPr>
        <p:spPr>
          <a:xfrm>
            <a:off x="8366760" y="3127248"/>
            <a:ext cx="1234440" cy="320040"/>
          </a:xfrm>
          <a:prstGeom prst="rect">
            <a:avLst/>
          </a:prstGeom>
          <a:noFill/>
          <a:ln/>
        </p:spPr>
        <p:txBody>
          <a:bodyPr wrap="square" lIns="0" tIns="0" rIns="0" bIns="0" rtlCol="0" anchor="ctr"/>
          <a:lstStyle/>
          <a:p>
            <a:pPr algn="ctr" indent="0" marL="0">
              <a:buNone/>
            </a:pPr>
            <a:r>
              <a:rPr lang="en-US" sz="1200" b="1" dirty="0">
                <a:solidFill>
                  <a:srgbClr val="6B7B84"/>
                </a:solidFill>
                <a:latin typeface="Calibri" pitchFamily="34" charset="0"/>
                <a:ea typeface="Calibri" pitchFamily="34" charset="-122"/>
                <a:cs typeface="Calibri" pitchFamily="34" charset="-120"/>
              </a:rPr>
              <a:t>1024 pts</a:t>
            </a:r>
            <a:endParaRPr lang="en-US" sz="1200" dirty="0"/>
          </a:p>
        </p:txBody>
      </p:sp>
      <p:sp>
        <p:nvSpPr>
          <p:cNvPr id="57" name="Shape 55"/>
          <p:cNvSpPr/>
          <p:nvPr/>
        </p:nvSpPr>
        <p:spPr>
          <a:xfrm>
            <a:off x="9646920" y="2011680"/>
            <a:ext cx="1051560" cy="1051560"/>
          </a:xfrm>
          <a:prstGeom prst="roundRect">
            <a:avLst>
              <a:gd name="adj" fmla="val 7826"/>
            </a:avLst>
          </a:prstGeom>
          <a:solidFill>
            <a:srgbClr val="F2F6F7"/>
          </a:solidFill>
          <a:ln/>
          <a:effectLst>
            <a:outerShdw sx="100000" sy="100000" kx="0" ky="0" algn="bl" rotWithShape="0" blurRad="88900" dist="25400" dir="5400000">
              <a:srgbClr val="9AAEB5">
                <a:alpha val="35000"/>
              </a:srgbClr>
            </a:outerShdw>
          </a:effectLst>
        </p:spPr>
      </p:sp>
      <p:sp>
        <p:nvSpPr>
          <p:cNvPr id="58" name="Shape 56"/>
          <p:cNvSpPr/>
          <p:nvPr/>
        </p:nvSpPr>
        <p:spPr>
          <a:xfrm>
            <a:off x="9978048" y="2458941"/>
            <a:ext cx="115355" cy="115355"/>
          </a:xfrm>
          <a:prstGeom prst="ellipse">
            <a:avLst/>
          </a:prstGeom>
          <a:solidFill>
            <a:srgbClr val="1C7293">
              <a:alpha val="79597"/>
            </a:srgbClr>
          </a:solidFill>
          <a:ln/>
        </p:spPr>
      </p:sp>
      <p:sp>
        <p:nvSpPr>
          <p:cNvPr id="59" name="Shape 57"/>
          <p:cNvSpPr/>
          <p:nvPr/>
        </p:nvSpPr>
        <p:spPr>
          <a:xfrm>
            <a:off x="10185631" y="2298200"/>
            <a:ext cx="88582" cy="88582"/>
          </a:xfrm>
          <a:prstGeom prst="ellipse">
            <a:avLst/>
          </a:prstGeom>
          <a:solidFill>
            <a:srgbClr val="1C7293">
              <a:alpha val="65280"/>
            </a:srgbClr>
          </a:solidFill>
          <a:ln/>
        </p:spPr>
      </p:sp>
      <p:sp>
        <p:nvSpPr>
          <p:cNvPr id="60" name="Shape 58"/>
          <p:cNvSpPr/>
          <p:nvPr/>
        </p:nvSpPr>
        <p:spPr>
          <a:xfrm>
            <a:off x="10477480" y="2265682"/>
            <a:ext cx="56709" cy="56709"/>
          </a:xfrm>
          <a:prstGeom prst="ellipse">
            <a:avLst/>
          </a:prstGeom>
          <a:solidFill>
            <a:srgbClr val="1C7293">
              <a:alpha val="47262"/>
            </a:srgbClr>
          </a:solidFill>
          <a:ln/>
        </p:spPr>
      </p:sp>
      <p:sp>
        <p:nvSpPr>
          <p:cNvPr id="61" name="Shape 59"/>
          <p:cNvSpPr/>
          <p:nvPr/>
        </p:nvSpPr>
        <p:spPr>
          <a:xfrm>
            <a:off x="10129604" y="2753540"/>
            <a:ext cx="103721" cy="103721"/>
          </a:xfrm>
          <a:prstGeom prst="ellipse">
            <a:avLst/>
          </a:prstGeom>
          <a:solidFill>
            <a:srgbClr val="1C7293">
              <a:alpha val="76937"/>
            </a:srgbClr>
          </a:solidFill>
          <a:ln/>
        </p:spPr>
      </p:sp>
      <p:sp>
        <p:nvSpPr>
          <p:cNvPr id="62" name="Shape 60"/>
          <p:cNvSpPr/>
          <p:nvPr/>
        </p:nvSpPr>
        <p:spPr>
          <a:xfrm>
            <a:off x="10056920" y="2564811"/>
            <a:ext cx="70510" cy="70510"/>
          </a:xfrm>
          <a:prstGeom prst="ellipse">
            <a:avLst/>
          </a:prstGeom>
          <a:solidFill>
            <a:srgbClr val="1C7293">
              <a:alpha val="42346"/>
            </a:srgbClr>
          </a:solidFill>
          <a:ln/>
        </p:spPr>
      </p:sp>
      <p:sp>
        <p:nvSpPr>
          <p:cNvPr id="63" name="Shape 61"/>
          <p:cNvSpPr/>
          <p:nvPr/>
        </p:nvSpPr>
        <p:spPr>
          <a:xfrm>
            <a:off x="10474914" y="2879678"/>
            <a:ext cx="86728" cy="86728"/>
          </a:xfrm>
          <a:prstGeom prst="ellipse">
            <a:avLst/>
          </a:prstGeom>
          <a:solidFill>
            <a:srgbClr val="1C7293">
              <a:alpha val="64240"/>
            </a:srgbClr>
          </a:solidFill>
          <a:ln/>
        </p:spPr>
      </p:sp>
      <p:sp>
        <p:nvSpPr>
          <p:cNvPr id="64" name="Shape 62"/>
          <p:cNvSpPr/>
          <p:nvPr/>
        </p:nvSpPr>
        <p:spPr>
          <a:xfrm>
            <a:off x="9815050" y="2325433"/>
            <a:ext cx="59922" cy="59922"/>
          </a:xfrm>
          <a:prstGeom prst="ellipse">
            <a:avLst/>
          </a:prstGeom>
          <a:solidFill>
            <a:srgbClr val="1C7293">
              <a:alpha val="45562"/>
            </a:srgbClr>
          </a:solidFill>
          <a:ln/>
        </p:spPr>
      </p:sp>
      <p:sp>
        <p:nvSpPr>
          <p:cNvPr id="65" name="Shape 63"/>
          <p:cNvSpPr/>
          <p:nvPr/>
        </p:nvSpPr>
        <p:spPr>
          <a:xfrm>
            <a:off x="10211722" y="2207669"/>
            <a:ext cx="96658" cy="96658"/>
          </a:xfrm>
          <a:prstGeom prst="ellipse">
            <a:avLst/>
          </a:prstGeom>
          <a:solidFill>
            <a:srgbClr val="1C7293">
              <a:alpha val="39784"/>
            </a:srgbClr>
          </a:solidFill>
          <a:ln/>
        </p:spPr>
      </p:sp>
      <p:sp>
        <p:nvSpPr>
          <p:cNvPr id="66" name="Shape 64"/>
          <p:cNvSpPr/>
          <p:nvPr/>
        </p:nvSpPr>
        <p:spPr>
          <a:xfrm>
            <a:off x="9787331" y="2182535"/>
            <a:ext cx="87282" cy="87282"/>
          </a:xfrm>
          <a:prstGeom prst="ellipse">
            <a:avLst/>
          </a:prstGeom>
          <a:solidFill>
            <a:srgbClr val="1C7293">
              <a:alpha val="65070"/>
            </a:srgbClr>
          </a:solidFill>
          <a:ln/>
        </p:spPr>
      </p:sp>
      <p:sp>
        <p:nvSpPr>
          <p:cNvPr id="67" name="Shape 65"/>
          <p:cNvSpPr/>
          <p:nvPr/>
        </p:nvSpPr>
        <p:spPr>
          <a:xfrm>
            <a:off x="10527090" y="2433787"/>
            <a:ext cx="109296" cy="109296"/>
          </a:xfrm>
          <a:prstGeom prst="ellipse">
            <a:avLst/>
          </a:prstGeom>
          <a:solidFill>
            <a:srgbClr val="1C7293">
              <a:alpha val="40318"/>
            </a:srgbClr>
          </a:solidFill>
          <a:ln/>
        </p:spPr>
      </p:sp>
      <p:sp>
        <p:nvSpPr>
          <p:cNvPr id="68" name="Shape 66"/>
          <p:cNvSpPr/>
          <p:nvPr/>
        </p:nvSpPr>
        <p:spPr>
          <a:xfrm>
            <a:off x="9917032" y="2269605"/>
            <a:ext cx="68949" cy="68949"/>
          </a:xfrm>
          <a:prstGeom prst="ellipse">
            <a:avLst/>
          </a:prstGeom>
          <a:solidFill>
            <a:srgbClr val="1C7293">
              <a:alpha val="67078"/>
            </a:srgbClr>
          </a:solidFill>
          <a:ln/>
        </p:spPr>
      </p:sp>
      <p:sp>
        <p:nvSpPr>
          <p:cNvPr id="69" name="Shape 67"/>
          <p:cNvSpPr/>
          <p:nvPr/>
        </p:nvSpPr>
        <p:spPr>
          <a:xfrm>
            <a:off x="10485088" y="2568974"/>
            <a:ext cx="110966" cy="110966"/>
          </a:xfrm>
          <a:prstGeom prst="ellipse">
            <a:avLst/>
          </a:prstGeom>
          <a:solidFill>
            <a:srgbClr val="1C7293">
              <a:alpha val="60626"/>
            </a:srgbClr>
          </a:solidFill>
          <a:ln/>
        </p:spPr>
      </p:sp>
      <p:sp>
        <p:nvSpPr>
          <p:cNvPr id="70" name="Shape 68"/>
          <p:cNvSpPr/>
          <p:nvPr/>
        </p:nvSpPr>
        <p:spPr>
          <a:xfrm>
            <a:off x="9791406" y="2534598"/>
            <a:ext cx="58146" cy="58146"/>
          </a:xfrm>
          <a:prstGeom prst="ellipse">
            <a:avLst/>
          </a:prstGeom>
          <a:solidFill>
            <a:srgbClr val="1C7293">
              <a:alpha val="40186"/>
            </a:srgbClr>
          </a:solidFill>
          <a:ln/>
        </p:spPr>
      </p:sp>
      <p:sp>
        <p:nvSpPr>
          <p:cNvPr id="71" name="Shape 69"/>
          <p:cNvSpPr/>
          <p:nvPr/>
        </p:nvSpPr>
        <p:spPr>
          <a:xfrm>
            <a:off x="9785432" y="2817914"/>
            <a:ext cx="96109" cy="96109"/>
          </a:xfrm>
          <a:prstGeom prst="ellipse">
            <a:avLst/>
          </a:prstGeom>
          <a:solidFill>
            <a:srgbClr val="1C7293">
              <a:alpha val="59592"/>
            </a:srgbClr>
          </a:solidFill>
          <a:ln/>
        </p:spPr>
      </p:sp>
      <p:sp>
        <p:nvSpPr>
          <p:cNvPr id="72" name="Shape 70"/>
          <p:cNvSpPr/>
          <p:nvPr/>
        </p:nvSpPr>
        <p:spPr>
          <a:xfrm>
            <a:off x="10439341" y="2784637"/>
            <a:ext cx="45552" cy="45552"/>
          </a:xfrm>
          <a:prstGeom prst="ellipse">
            <a:avLst/>
          </a:prstGeom>
          <a:solidFill>
            <a:srgbClr val="1C7293">
              <a:alpha val="30008"/>
            </a:srgbClr>
          </a:solidFill>
          <a:ln/>
        </p:spPr>
      </p:sp>
      <p:sp>
        <p:nvSpPr>
          <p:cNvPr id="73" name="Shape 71"/>
          <p:cNvSpPr/>
          <p:nvPr/>
        </p:nvSpPr>
        <p:spPr>
          <a:xfrm>
            <a:off x="10314410" y="2523353"/>
            <a:ext cx="64853" cy="64853"/>
          </a:xfrm>
          <a:prstGeom prst="ellipse">
            <a:avLst/>
          </a:prstGeom>
          <a:solidFill>
            <a:srgbClr val="1C7293">
              <a:alpha val="40658"/>
            </a:srgbClr>
          </a:solidFill>
          <a:ln/>
        </p:spPr>
      </p:sp>
      <p:sp>
        <p:nvSpPr>
          <p:cNvPr id="74" name="Text 72"/>
          <p:cNvSpPr txBox="1"/>
          <p:nvPr/>
        </p:nvSpPr>
        <p:spPr>
          <a:xfrm>
            <a:off x="9555480" y="3127248"/>
            <a:ext cx="1234440" cy="320040"/>
          </a:xfrm>
          <a:prstGeom prst="rect">
            <a:avLst/>
          </a:prstGeom>
          <a:noFill/>
          <a:ln/>
        </p:spPr>
        <p:txBody>
          <a:bodyPr wrap="square" lIns="0" tIns="0" rIns="0" bIns="0" rtlCol="0" anchor="ctr"/>
          <a:lstStyle/>
          <a:p>
            <a:pPr algn="ctr" indent="0" marL="0">
              <a:buNone/>
            </a:pPr>
            <a:r>
              <a:rPr lang="en-US" sz="1200" b="1" dirty="0">
                <a:solidFill>
                  <a:srgbClr val="6B7B84"/>
                </a:solidFill>
                <a:latin typeface="Calibri" pitchFamily="34" charset="0"/>
                <a:ea typeface="Calibri" pitchFamily="34" charset="-122"/>
                <a:cs typeface="Calibri" pitchFamily="34" charset="-120"/>
              </a:rPr>
              <a:t>128 pts</a:t>
            </a:r>
            <a:endParaRPr lang="en-US" sz="1200" dirty="0"/>
          </a:p>
        </p:txBody>
      </p:sp>
      <p:sp>
        <p:nvSpPr>
          <p:cNvPr id="75" name="Shape 73"/>
          <p:cNvSpPr/>
          <p:nvPr/>
        </p:nvSpPr>
        <p:spPr>
          <a:xfrm>
            <a:off x="10835640" y="2011680"/>
            <a:ext cx="1051560" cy="1051560"/>
          </a:xfrm>
          <a:prstGeom prst="roundRect">
            <a:avLst>
              <a:gd name="adj" fmla="val 7826"/>
            </a:avLst>
          </a:prstGeom>
          <a:solidFill>
            <a:srgbClr val="F2F6F7"/>
          </a:solidFill>
          <a:ln/>
          <a:effectLst>
            <a:outerShdw sx="100000" sy="100000" kx="0" ky="0" algn="bl" rotWithShape="0" blurRad="88900" dist="25400" dir="5400000">
              <a:srgbClr val="9AAEB5">
                <a:alpha val="35000"/>
              </a:srgbClr>
            </a:outerShdw>
          </a:effectLst>
        </p:spPr>
      </p:sp>
      <p:sp>
        <p:nvSpPr>
          <p:cNvPr id="76" name="Shape 74"/>
          <p:cNvSpPr/>
          <p:nvPr/>
        </p:nvSpPr>
        <p:spPr>
          <a:xfrm>
            <a:off x="11101110" y="2403598"/>
            <a:ext cx="67791" cy="67791"/>
          </a:xfrm>
          <a:prstGeom prst="ellipse">
            <a:avLst/>
          </a:prstGeom>
          <a:solidFill>
            <a:srgbClr val="1C7293">
              <a:alpha val="76986"/>
            </a:srgbClr>
          </a:solidFill>
          <a:ln/>
        </p:spPr>
      </p:sp>
      <p:sp>
        <p:nvSpPr>
          <p:cNvPr id="77" name="Shape 75"/>
          <p:cNvSpPr/>
          <p:nvPr/>
        </p:nvSpPr>
        <p:spPr>
          <a:xfrm>
            <a:off x="11533701" y="2248276"/>
            <a:ext cx="38617" cy="38617"/>
          </a:xfrm>
          <a:prstGeom prst="ellipse">
            <a:avLst/>
          </a:prstGeom>
          <a:solidFill>
            <a:srgbClr val="1C7293">
              <a:alpha val="47818"/>
            </a:srgbClr>
          </a:solidFill>
          <a:ln/>
        </p:spPr>
      </p:sp>
      <p:sp>
        <p:nvSpPr>
          <p:cNvPr id="78" name="Shape 76"/>
          <p:cNvSpPr/>
          <p:nvPr/>
        </p:nvSpPr>
        <p:spPr>
          <a:xfrm>
            <a:off x="11273784" y="2395501"/>
            <a:ext cx="68691" cy="68691"/>
          </a:xfrm>
          <a:prstGeom prst="ellipse">
            <a:avLst/>
          </a:prstGeom>
          <a:solidFill>
            <a:srgbClr val="1C7293">
              <a:alpha val="67710"/>
            </a:srgbClr>
          </a:solidFill>
          <a:ln/>
        </p:spPr>
      </p:sp>
      <p:sp>
        <p:nvSpPr>
          <p:cNvPr id="79" name="Shape 77"/>
          <p:cNvSpPr/>
          <p:nvPr/>
        </p:nvSpPr>
        <p:spPr>
          <a:xfrm>
            <a:off x="11161749" y="2842340"/>
            <a:ext cx="65172" cy="65172"/>
          </a:xfrm>
          <a:prstGeom prst="ellipse">
            <a:avLst/>
          </a:prstGeom>
          <a:solidFill>
            <a:srgbClr val="1C7293">
              <a:alpha val="52593"/>
            </a:srgbClr>
          </a:solidFill>
          <a:ln/>
        </p:spPr>
      </p:sp>
      <p:sp>
        <p:nvSpPr>
          <p:cNvPr id="80" name="Shape 78"/>
          <p:cNvSpPr/>
          <p:nvPr/>
        </p:nvSpPr>
        <p:spPr>
          <a:xfrm>
            <a:off x="11743173" y="2120996"/>
            <a:ext cx="37322" cy="37322"/>
          </a:xfrm>
          <a:prstGeom prst="ellipse">
            <a:avLst/>
          </a:prstGeom>
          <a:solidFill>
            <a:srgbClr val="1C7293">
              <a:alpha val="46576"/>
            </a:srgbClr>
          </a:solidFill>
          <a:ln/>
        </p:spPr>
      </p:sp>
      <p:sp>
        <p:nvSpPr>
          <p:cNvPr id="81" name="Text 79"/>
          <p:cNvSpPr txBox="1"/>
          <p:nvPr/>
        </p:nvSpPr>
        <p:spPr>
          <a:xfrm>
            <a:off x="10744200" y="3127248"/>
            <a:ext cx="1234440" cy="320040"/>
          </a:xfrm>
          <a:prstGeom prst="rect">
            <a:avLst/>
          </a:prstGeom>
          <a:noFill/>
          <a:ln/>
        </p:spPr>
        <p:txBody>
          <a:bodyPr wrap="square" lIns="0" tIns="0" rIns="0" bIns="0" rtlCol="0" anchor="ctr"/>
          <a:lstStyle/>
          <a:p>
            <a:pPr algn="ctr" indent="0" marL="0">
              <a:buNone/>
            </a:pPr>
            <a:r>
              <a:rPr lang="en-US" sz="1200" b="1" dirty="0">
                <a:solidFill>
                  <a:srgbClr val="6B7B84"/>
                </a:solidFill>
                <a:latin typeface="Calibri" pitchFamily="34" charset="0"/>
                <a:ea typeface="Calibri" pitchFamily="34" charset="-122"/>
                <a:cs typeface="Calibri" pitchFamily="34" charset="-120"/>
              </a:rPr>
              <a:t>16 pts</a:t>
            </a:r>
            <a:endParaRPr lang="en-US" sz="1200" dirty="0"/>
          </a:p>
        </p:txBody>
      </p:sp>
      <p:sp>
        <p:nvSpPr>
          <p:cNvPr id="82" name="Text 80"/>
          <p:cNvSpPr txBox="1"/>
          <p:nvPr/>
        </p:nvSpPr>
        <p:spPr>
          <a:xfrm>
            <a:off x="8412480" y="3566160"/>
            <a:ext cx="3108960" cy="365760"/>
          </a:xfrm>
          <a:prstGeom prst="rect">
            <a:avLst/>
          </a:prstGeom>
          <a:noFill/>
          <a:ln/>
        </p:spPr>
        <p:txBody>
          <a:bodyPr wrap="square" lIns="0" tIns="0" rIns="0" bIns="0" rtlCol="0" anchor="ctr"/>
          <a:lstStyle/>
          <a:p>
            <a:pPr algn="ctr" indent="0" marL="0">
              <a:buNone/>
            </a:pPr>
            <a:r>
              <a:rPr lang="en-US" sz="1200" i="1" dirty="0">
                <a:solidFill>
                  <a:srgbClr val="E76F51"/>
                </a:solidFill>
                <a:latin typeface="Calibri" pitchFamily="34" charset="0"/>
                <a:ea typeface="Calibri" pitchFamily="34" charset="-122"/>
                <a:cs typeface="Calibri" pitchFamily="34" charset="-120"/>
              </a:rPr>
              <a:t>← de plus en plus parcimonieux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Résultats — courbes de robustesse (AUC test)</a:t>
            </a:r>
            <a:endParaRPr lang="en-US" sz="3200" dirty="0"/>
          </a:p>
        </p:txBody>
      </p:sp>
      <p:graphicFrame>
        <p:nvGraphicFramePr>
          <p:cNvPr id="3" name="Chart 0" descr=""/>
          <p:cNvGraphicFramePr/>
          <p:nvPr/>
        </p:nvGraphicFramePr>
        <p:xfrm>
          <a:off x="548640" y="141732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83880" y="1554480"/>
            <a:ext cx="3429000" cy="4572000"/>
          </a:xfrm>
          <a:prstGeom prst="roundRect">
            <a:avLst>
              <a:gd name="adj" fmla="val 2400"/>
            </a:avLst>
          </a:prstGeom>
          <a:solidFill>
            <a:srgbClr val="08293A"/>
          </a:solidFill>
          <a:ln/>
          <a:effectLst>
            <a:outerShdw sx="100000" sy="100000" kx="0" ky="0" algn="bl" rotWithShape="0" blurRad="88900" dist="25400" dir="5400000">
              <a:srgbClr val="9AAEB5">
                <a:alpha val="35000"/>
              </a:srgbClr>
            </a:outerShdw>
          </a:effectLst>
        </p:spPr>
      </p:sp>
      <p:sp>
        <p:nvSpPr>
          <p:cNvPr id="5" name="Text 2"/>
          <p:cNvSpPr txBox="1"/>
          <p:nvPr/>
        </p:nvSpPr>
        <p:spPr>
          <a:xfrm>
            <a:off x="8412480" y="1783080"/>
            <a:ext cx="3017520" cy="365760"/>
          </a:xfrm>
          <a:prstGeom prst="rect">
            <a:avLst/>
          </a:prstGeom>
          <a:noFill/>
          <a:ln/>
        </p:spPr>
        <p:txBody>
          <a:bodyPr wrap="square" lIns="0" tIns="0" rIns="0" bIns="0" rtlCol="0" anchor="ctr"/>
          <a:lstStyle/>
          <a:p>
            <a:pPr indent="0" marL="0">
              <a:buNone/>
            </a:pPr>
            <a:r>
              <a:rPr lang="en-US" sz="1700" b="1" dirty="0">
                <a:solidFill>
                  <a:srgbClr val="2EC4B6"/>
                </a:solidFill>
                <a:latin typeface="Cambria" pitchFamily="34" charset="0"/>
                <a:ea typeface="Cambria" pitchFamily="34" charset="-122"/>
                <a:cs typeface="Cambria" pitchFamily="34" charset="-120"/>
              </a:rPr>
              <a:t>À retenir</a:t>
            </a:r>
            <a:endParaRPr lang="en-US" sz="1700" dirty="0"/>
          </a:p>
        </p:txBody>
      </p:sp>
      <p:sp>
        <p:nvSpPr>
          <p:cNvPr id="6" name="Text 3"/>
          <p:cNvSpPr txBox="1"/>
          <p:nvPr/>
        </p:nvSpPr>
        <p:spPr>
          <a:xfrm>
            <a:off x="8503920" y="2286000"/>
            <a:ext cx="2971800" cy="3657600"/>
          </a:xfrm>
          <a:prstGeom prst="rect">
            <a:avLst/>
          </a:prstGeom>
          <a:noFill/>
          <a:ln/>
        </p:spPr>
        <p:txBody>
          <a:bodyPr wrap="square" lIns="0" tIns="0" rIns="0" bIns="0" rtlCol="0" anchor="ctr"/>
          <a:lstStyle/>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Les deux modèles chutent : AUC 0.80 → 0.57 quand on passe de 1024 à 16 points.</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Le student (54k) égale le teacher (0.8M) à pleine densité.</a:t>
            </a:r>
            <a:endParaRPr lang="en-US" sz="1300" dirty="0"/>
          </a:p>
          <a:p>
            <a:pPr marL="203200" indent="-203200">
              <a:lnSpc>
                <a:spcPct val="105000"/>
              </a:lnSpc>
              <a:spcAft>
                <a:spcPts val="1100"/>
              </a:spcAft>
              <a:buSzPct val="100000"/>
              <a:buChar char="•"/>
            </a:pPr>
            <a:r>
              <a:rPr lang="en-US" sz="1300" dirty="0">
                <a:solidFill>
                  <a:srgbClr val="E6F2F3"/>
                </a:solidFill>
                <a:latin typeface="Calibri" pitchFamily="34" charset="0"/>
                <a:ea typeface="Calibri" pitchFamily="34" charset="-122"/>
                <a:cs typeface="Calibri" pitchFamily="34" charset="-120"/>
              </a:rPr>
              <a:t>Mais le teacher reste meilleur en sparsité extrême (64 pts : 0.708 vs 0.677).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Analyse critique</a:t>
            </a:r>
            <a:endParaRPr lang="en-US" sz="3200" dirty="0"/>
          </a:p>
        </p:txBody>
      </p:sp>
      <p:sp>
        <p:nvSpPr>
          <p:cNvPr id="3" name="Shape 1"/>
          <p:cNvSpPr/>
          <p:nvPr/>
        </p:nvSpPr>
        <p:spPr>
          <a:xfrm>
            <a:off x="548640" y="1508760"/>
            <a:ext cx="11064240" cy="1325880"/>
          </a:xfrm>
          <a:prstGeom prst="roundRect">
            <a:avLst>
              <a:gd name="adj" fmla="val 6207"/>
            </a:avLst>
          </a:prstGeom>
          <a:solidFill>
            <a:srgbClr val="EAF3F3"/>
          </a:solidFill>
          <a:ln/>
          <a:effectLst>
            <a:outerShdw sx="100000" sy="100000" kx="0" ky="0" algn="bl" rotWithShape="0" blurRad="88900" dist="25400" dir="5400000">
              <a:srgbClr val="9AAEB5">
                <a:alpha val="35000"/>
              </a:srgbClr>
            </a:outerShdw>
          </a:effectLst>
        </p:spPr>
      </p:sp>
      <p:sp>
        <p:nvSpPr>
          <p:cNvPr id="4" name="Text 2"/>
          <p:cNvSpPr txBox="1"/>
          <p:nvPr/>
        </p:nvSpPr>
        <p:spPr>
          <a:xfrm>
            <a:off x="868680" y="1764792"/>
            <a:ext cx="822960" cy="822960"/>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1828800" y="1664208"/>
            <a:ext cx="9509760" cy="457200"/>
          </a:xfrm>
          <a:prstGeom prst="rect">
            <a:avLst/>
          </a:prstGeom>
          <a:noFill/>
          <a:ln/>
        </p:spPr>
        <p:txBody>
          <a:bodyPr wrap="square" lIns="0" tIns="0" rIns="0" bIns="0" rtlCol="0" anchor="ctr"/>
          <a:lstStyle/>
          <a:p>
            <a:pPr indent="0" marL="0">
              <a:buNone/>
            </a:pPr>
            <a:r>
              <a:rPr lang="en-US" sz="1800" b="1" dirty="0">
                <a:solidFill>
                  <a:srgbClr val="16323D"/>
                </a:solidFill>
                <a:latin typeface="Cambria" pitchFamily="34" charset="0"/>
                <a:ea typeface="Cambria" pitchFamily="34" charset="-122"/>
                <a:cs typeface="Cambria" pitchFamily="34" charset="-120"/>
              </a:rPr>
              <a:t>Le phénomène est réel</a:t>
            </a:r>
            <a:endParaRPr lang="en-US" sz="1800" dirty="0"/>
          </a:p>
        </p:txBody>
      </p:sp>
      <p:sp>
        <p:nvSpPr>
          <p:cNvPr id="6" name="Text 4"/>
          <p:cNvSpPr txBox="1"/>
          <p:nvPr/>
        </p:nvSpPr>
        <p:spPr>
          <a:xfrm>
            <a:off x="1828800" y="2103120"/>
            <a:ext cx="9601200" cy="658368"/>
          </a:xfrm>
          <a:prstGeom prst="rect">
            <a:avLst/>
          </a:prstGeom>
          <a:noFill/>
          <a:ln/>
        </p:spPr>
        <p:txBody>
          <a:bodyPr wrap="square" lIns="0" tIns="0" rIns="0" bIns="0" rtlCol="0" anchor="ctr"/>
          <a:lstStyle/>
          <a:p>
            <a:pPr indent="0" marL="0">
              <a:lnSpc>
                <a:spcPct val="103000"/>
              </a:lnSpc>
              <a:buNone/>
            </a:pPr>
            <a:r>
              <a:rPr lang="en-US" sz="1400" dirty="0">
                <a:solidFill>
                  <a:srgbClr val="33474F"/>
                </a:solidFill>
                <a:latin typeface="Calibri" pitchFamily="34" charset="0"/>
                <a:ea typeface="Calibri" pitchFamily="34" charset="-122"/>
                <a:cs typeface="Calibri" pitchFamily="34" charset="-120"/>
              </a:rPr>
              <a:t>L'AUC chute de ~0.80 (1024 pts) à ~0.57 (16 pts) pour les deux modèles — terrain de jeu idéal pour la KD.</a:t>
            </a:r>
            <a:endParaRPr lang="en-US" sz="1400" dirty="0"/>
          </a:p>
        </p:txBody>
      </p:sp>
      <p:sp>
        <p:nvSpPr>
          <p:cNvPr id="7" name="Shape 5"/>
          <p:cNvSpPr/>
          <p:nvPr/>
        </p:nvSpPr>
        <p:spPr>
          <a:xfrm>
            <a:off x="548640" y="2990088"/>
            <a:ext cx="11064240" cy="1325880"/>
          </a:xfrm>
          <a:prstGeom prst="roundRect">
            <a:avLst>
              <a:gd name="adj" fmla="val 6207"/>
            </a:avLst>
          </a:prstGeom>
          <a:solidFill>
            <a:srgbClr val="F2F6F7"/>
          </a:solidFill>
          <a:ln/>
          <a:effectLst>
            <a:outerShdw sx="100000" sy="100000" kx="0" ky="0" algn="bl" rotWithShape="0" blurRad="88900" dist="25400" dir="5400000">
              <a:srgbClr val="9AAEB5">
                <a:alpha val="35000"/>
              </a:srgbClr>
            </a:outerShdw>
          </a:effectLst>
        </p:spPr>
      </p:sp>
      <p:sp>
        <p:nvSpPr>
          <p:cNvPr id="8" name="Text 6"/>
          <p:cNvSpPr txBox="1"/>
          <p:nvPr/>
        </p:nvSpPr>
        <p:spPr>
          <a:xfrm>
            <a:off x="868680" y="3246120"/>
            <a:ext cx="822960" cy="822960"/>
          </a:xfrm>
          <a:prstGeom prst="rect">
            <a:avLst/>
          </a:prstGeom>
          <a:noFill/>
          <a:ln/>
        </p:spPr>
        <p:txBody>
          <a:bodyPr wrap="square" lIns="0" tIns="0" rIns="0" bIns="0" rtlCol="0" anchor="ctr"/>
          <a:lstStyle/>
          <a:p>
            <a:pPr algn="ctr" indent="0" marL="0">
              <a:buNone/>
            </a:pPr>
            <a:r>
              <a:rPr lang="en-US" sz="3000" b="1" dirty="0">
                <a:solidFill>
                  <a:srgbClr val="E76F51"/>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1828800" y="3145536"/>
            <a:ext cx="9509760" cy="457200"/>
          </a:xfrm>
          <a:prstGeom prst="rect">
            <a:avLst/>
          </a:prstGeom>
          <a:noFill/>
          <a:ln/>
        </p:spPr>
        <p:txBody>
          <a:bodyPr wrap="square" lIns="0" tIns="0" rIns="0" bIns="0" rtlCol="0" anchor="ctr"/>
          <a:lstStyle/>
          <a:p>
            <a:pPr indent="0" marL="0">
              <a:buNone/>
            </a:pPr>
            <a:r>
              <a:rPr lang="en-US" sz="1800" b="1" dirty="0">
                <a:solidFill>
                  <a:srgbClr val="16323D"/>
                </a:solidFill>
                <a:latin typeface="Cambria" pitchFamily="34" charset="0"/>
                <a:ea typeface="Cambria" pitchFamily="34" charset="-122"/>
                <a:cs typeface="Cambria" pitchFamily="34" charset="-120"/>
              </a:rPr>
              <a:t>Surprise honnête</a:t>
            </a:r>
            <a:endParaRPr lang="en-US" sz="1800" dirty="0"/>
          </a:p>
        </p:txBody>
      </p:sp>
      <p:sp>
        <p:nvSpPr>
          <p:cNvPr id="10" name="Text 8"/>
          <p:cNvSpPr txBox="1"/>
          <p:nvPr/>
        </p:nvSpPr>
        <p:spPr>
          <a:xfrm>
            <a:off x="1828800" y="3584448"/>
            <a:ext cx="9601200" cy="658368"/>
          </a:xfrm>
          <a:prstGeom prst="rect">
            <a:avLst/>
          </a:prstGeom>
          <a:noFill/>
          <a:ln/>
        </p:spPr>
        <p:txBody>
          <a:bodyPr wrap="square" lIns="0" tIns="0" rIns="0" bIns="0" rtlCol="0" anchor="ctr"/>
          <a:lstStyle/>
          <a:p>
            <a:pPr indent="0" marL="0">
              <a:lnSpc>
                <a:spcPct val="103000"/>
              </a:lnSpc>
              <a:buNone/>
            </a:pPr>
            <a:r>
              <a:rPr lang="en-US" sz="1400" dirty="0">
                <a:solidFill>
                  <a:srgbClr val="33474F"/>
                </a:solidFill>
                <a:latin typeface="Calibri" pitchFamily="34" charset="0"/>
                <a:ea typeface="Calibri" pitchFamily="34" charset="-122"/>
                <a:cs typeface="Calibri" pitchFamily="34" charset="-120"/>
              </a:rPr>
              <a:t>Le student 54k égale/dépasse le teacher 0.8M à pleine densité : dataset petit &amp; difficile, la capacité du teacher n'aide pas (sur-apprentissage).</a:t>
            </a:r>
            <a:endParaRPr lang="en-US" sz="1400" dirty="0"/>
          </a:p>
        </p:txBody>
      </p:sp>
      <p:sp>
        <p:nvSpPr>
          <p:cNvPr id="11" name="Shape 9"/>
          <p:cNvSpPr/>
          <p:nvPr/>
        </p:nvSpPr>
        <p:spPr>
          <a:xfrm>
            <a:off x="548640" y="4471416"/>
            <a:ext cx="11064240" cy="1325880"/>
          </a:xfrm>
          <a:prstGeom prst="roundRect">
            <a:avLst>
              <a:gd name="adj" fmla="val 6207"/>
            </a:avLst>
          </a:prstGeom>
          <a:solidFill>
            <a:srgbClr val="EAF3F3"/>
          </a:solidFill>
          <a:ln/>
          <a:effectLst>
            <a:outerShdw sx="100000" sy="100000" kx="0" ky="0" algn="bl" rotWithShape="0" blurRad="88900" dist="25400" dir="5400000">
              <a:srgbClr val="9AAEB5">
                <a:alpha val="35000"/>
              </a:srgbClr>
            </a:outerShdw>
          </a:effectLst>
        </p:spPr>
      </p:sp>
      <p:sp>
        <p:nvSpPr>
          <p:cNvPr id="12" name="Text 10"/>
          <p:cNvSpPr txBox="1"/>
          <p:nvPr/>
        </p:nvSpPr>
        <p:spPr>
          <a:xfrm>
            <a:off x="868680" y="4727448"/>
            <a:ext cx="822960" cy="822960"/>
          </a:xfrm>
          <a:prstGeom prst="rect">
            <a:avLst/>
          </a:prstGeom>
          <a:noFill/>
          <a:ln/>
        </p:spPr>
        <p:txBody>
          <a:bodyPr wrap="square" lIns="0" tIns="0" rIns="0" bIns="0" rtlCol="0" anchor="ctr"/>
          <a:lstStyle/>
          <a:p>
            <a:pPr algn="ctr" indent="0" marL="0">
              <a:buNone/>
            </a:pPr>
            <a:r>
              <a:rPr lang="en-US" sz="3000" b="1" dirty="0">
                <a:solidFill>
                  <a:srgbClr val="0B3C5D"/>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1828800" y="4626864"/>
            <a:ext cx="9509760" cy="457200"/>
          </a:xfrm>
          <a:prstGeom prst="rect">
            <a:avLst/>
          </a:prstGeom>
          <a:noFill/>
          <a:ln/>
        </p:spPr>
        <p:txBody>
          <a:bodyPr wrap="square" lIns="0" tIns="0" rIns="0" bIns="0" rtlCol="0" anchor="ctr"/>
          <a:lstStyle/>
          <a:p>
            <a:pPr indent="0" marL="0">
              <a:buNone/>
            </a:pPr>
            <a:r>
              <a:rPr lang="en-US" sz="1800" b="1" dirty="0">
                <a:solidFill>
                  <a:srgbClr val="16323D"/>
                </a:solidFill>
                <a:latin typeface="Cambria" pitchFamily="34" charset="0"/>
                <a:ea typeface="Cambria" pitchFamily="34" charset="-122"/>
                <a:cs typeface="Cambria" pitchFamily="34" charset="-120"/>
              </a:rPr>
              <a:t>Le vrai signal pour la KD</a:t>
            </a:r>
            <a:endParaRPr lang="en-US" sz="1800" dirty="0"/>
          </a:p>
        </p:txBody>
      </p:sp>
      <p:sp>
        <p:nvSpPr>
          <p:cNvPr id="14" name="Text 12"/>
          <p:cNvSpPr txBox="1"/>
          <p:nvPr/>
        </p:nvSpPr>
        <p:spPr>
          <a:xfrm>
            <a:off x="1828800" y="5065776"/>
            <a:ext cx="9601200" cy="658368"/>
          </a:xfrm>
          <a:prstGeom prst="rect">
            <a:avLst/>
          </a:prstGeom>
          <a:noFill/>
          <a:ln/>
        </p:spPr>
        <p:txBody>
          <a:bodyPr wrap="square" lIns="0" tIns="0" rIns="0" bIns="0" rtlCol="0" anchor="ctr"/>
          <a:lstStyle/>
          <a:p>
            <a:pPr indent="0" marL="0">
              <a:lnSpc>
                <a:spcPct val="103000"/>
              </a:lnSpc>
              <a:buNone/>
            </a:pPr>
            <a:r>
              <a:rPr lang="en-US" sz="1400" dirty="0">
                <a:solidFill>
                  <a:srgbClr val="33474F"/>
                </a:solidFill>
                <a:latin typeface="Calibri" pitchFamily="34" charset="0"/>
                <a:ea typeface="Calibri" pitchFamily="34" charset="-122"/>
                <a:cs typeface="Calibri" pitchFamily="34" charset="-120"/>
              </a:rPr>
              <a:t>Le teacher se dégrade plus gracieusement en sparsité extrême. On recadre H1 : la KD ne vise pas la précision mais la robustesse basse-densité.</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Deuxième moitié — la distillation</a:t>
            </a:r>
            <a:endParaRPr lang="en-US" sz="3200" dirty="0"/>
          </a:p>
        </p:txBody>
      </p:sp>
      <p:sp>
        <p:nvSpPr>
          <p:cNvPr id="3" name="Shape 1"/>
          <p:cNvSpPr/>
          <p:nvPr/>
        </p:nvSpPr>
        <p:spPr>
          <a:xfrm>
            <a:off x="548640" y="1554480"/>
            <a:ext cx="5394960" cy="1874520"/>
          </a:xfrm>
          <a:prstGeom prst="roundRect">
            <a:avLst>
              <a:gd name="adj" fmla="val 4390"/>
            </a:avLst>
          </a:prstGeom>
          <a:solidFill>
            <a:srgbClr val="EAF3F3"/>
          </a:solidFill>
          <a:ln/>
          <a:effectLst>
            <a:outerShdw sx="100000" sy="100000" kx="0" ky="0" algn="bl" rotWithShape="0" blurRad="88900" dist="25400" dir="5400000">
              <a:srgbClr val="9AAEB5">
                <a:alpha val="35000"/>
              </a:srgbClr>
            </a:outerShdw>
          </a:effectLst>
        </p:spPr>
      </p:sp>
      <p:sp>
        <p:nvSpPr>
          <p:cNvPr id="4" name="Shape 2"/>
          <p:cNvSpPr/>
          <p:nvPr/>
        </p:nvSpPr>
        <p:spPr>
          <a:xfrm>
            <a:off x="822960" y="1828800"/>
            <a:ext cx="566928" cy="566928"/>
          </a:xfrm>
          <a:prstGeom prst="ellipse">
            <a:avLst/>
          </a:prstGeom>
          <a:solidFill>
            <a:srgbClr val="1C7293"/>
          </a:solidFill>
          <a:ln/>
        </p:spPr>
      </p:sp>
      <p:sp>
        <p:nvSpPr>
          <p:cNvPr id="5" name="Text 3"/>
          <p:cNvSpPr txBox="1"/>
          <p:nvPr/>
        </p:nvSpPr>
        <p:spPr>
          <a:xfrm>
            <a:off x="822960"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554480" y="184708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KD logit (Hinton)</a:t>
            </a:r>
            <a:endParaRPr lang="en-US" sz="1650" dirty="0"/>
          </a:p>
        </p:txBody>
      </p:sp>
      <p:sp>
        <p:nvSpPr>
          <p:cNvPr id="7" name="Text 5"/>
          <p:cNvSpPr txBox="1"/>
          <p:nvPr/>
        </p:nvSpPr>
        <p:spPr>
          <a:xfrm>
            <a:off x="868680" y="251460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α·CE + (1-α)·KL(z_s/T ‖ z_t/T), teacher gelé</a:t>
            </a:r>
            <a:endParaRPr lang="en-US" sz="1350" dirty="0"/>
          </a:p>
        </p:txBody>
      </p:sp>
      <p:sp>
        <p:nvSpPr>
          <p:cNvPr id="8" name="Shape 6"/>
          <p:cNvSpPr/>
          <p:nvPr/>
        </p:nvSpPr>
        <p:spPr>
          <a:xfrm>
            <a:off x="6217920" y="1554480"/>
            <a:ext cx="5394960" cy="1874520"/>
          </a:xfrm>
          <a:prstGeom prst="roundRect">
            <a:avLst>
              <a:gd name="adj" fmla="val 4390"/>
            </a:avLst>
          </a:prstGeom>
          <a:solidFill>
            <a:srgbClr val="EAF3F3"/>
          </a:solidFill>
          <a:ln/>
          <a:effectLst>
            <a:outerShdw sx="100000" sy="100000" kx="0" ky="0" algn="bl" rotWithShape="0" blurRad="88900" dist="25400" dir="5400000">
              <a:srgbClr val="9AAEB5">
                <a:alpha val="35000"/>
              </a:srgbClr>
            </a:outerShdw>
          </a:effectLst>
        </p:spPr>
      </p:sp>
      <p:sp>
        <p:nvSpPr>
          <p:cNvPr id="9" name="Shape 7"/>
          <p:cNvSpPr/>
          <p:nvPr/>
        </p:nvSpPr>
        <p:spPr>
          <a:xfrm>
            <a:off x="6492240" y="1828800"/>
            <a:ext cx="566928" cy="566928"/>
          </a:xfrm>
          <a:prstGeom prst="ellipse">
            <a:avLst/>
          </a:prstGeom>
          <a:solidFill>
            <a:srgbClr val="1C7293"/>
          </a:solidFill>
          <a:ln/>
        </p:spPr>
      </p:sp>
      <p:sp>
        <p:nvSpPr>
          <p:cNvPr id="10" name="Text 8"/>
          <p:cNvSpPr txBox="1"/>
          <p:nvPr/>
        </p:nvSpPr>
        <p:spPr>
          <a:xfrm>
            <a:off x="6492240"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7223760" y="184708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KD robuste (idée originale)</a:t>
            </a:r>
            <a:endParaRPr lang="en-US" sz="1650" dirty="0"/>
          </a:p>
        </p:txBody>
      </p:sp>
      <p:sp>
        <p:nvSpPr>
          <p:cNvPr id="12" name="Text 10"/>
          <p:cNvSpPr txBox="1"/>
          <p:nvPr/>
        </p:nvSpPr>
        <p:spPr>
          <a:xfrm>
            <a:off x="6537960" y="251460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teacher voit le nuage dense, student voit un nuage sous-échantillonné → apprend la sparsité</a:t>
            </a:r>
            <a:endParaRPr lang="en-US" sz="1350" dirty="0"/>
          </a:p>
        </p:txBody>
      </p:sp>
      <p:sp>
        <p:nvSpPr>
          <p:cNvPr id="13" name="Shape 11"/>
          <p:cNvSpPr/>
          <p:nvPr/>
        </p:nvSpPr>
        <p:spPr>
          <a:xfrm>
            <a:off x="548640" y="3703320"/>
            <a:ext cx="5394960" cy="1874520"/>
          </a:xfrm>
          <a:prstGeom prst="roundRect">
            <a:avLst>
              <a:gd name="adj" fmla="val 4390"/>
            </a:avLst>
          </a:prstGeom>
          <a:solidFill>
            <a:srgbClr val="F2F6F7"/>
          </a:solidFill>
          <a:ln/>
          <a:effectLst>
            <a:outerShdw sx="100000" sy="100000" kx="0" ky="0" algn="bl" rotWithShape="0" blurRad="88900" dist="25400" dir="5400000">
              <a:srgbClr val="9AAEB5">
                <a:alpha val="35000"/>
              </a:srgbClr>
            </a:outerShdw>
          </a:effectLst>
        </p:spPr>
      </p:sp>
      <p:sp>
        <p:nvSpPr>
          <p:cNvPr id="14" name="Shape 12"/>
          <p:cNvSpPr/>
          <p:nvPr/>
        </p:nvSpPr>
        <p:spPr>
          <a:xfrm>
            <a:off x="822960" y="3977640"/>
            <a:ext cx="566928" cy="566928"/>
          </a:xfrm>
          <a:prstGeom prst="ellipse">
            <a:avLst/>
          </a:prstGeom>
          <a:solidFill>
            <a:srgbClr val="E76F51"/>
          </a:solidFill>
          <a:ln/>
        </p:spPr>
      </p:sp>
      <p:sp>
        <p:nvSpPr>
          <p:cNvPr id="15" name="Text 13"/>
          <p:cNvSpPr txBox="1"/>
          <p:nvPr/>
        </p:nvSpPr>
        <p:spPr>
          <a:xfrm>
            <a:off x="822960" y="3977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554480" y="399592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KD de features</a:t>
            </a:r>
            <a:endParaRPr lang="en-US" sz="1650" dirty="0"/>
          </a:p>
        </p:txBody>
      </p:sp>
      <p:sp>
        <p:nvSpPr>
          <p:cNvPr id="17" name="Text 15"/>
          <p:cNvSpPr txBox="1"/>
          <p:nvPr/>
        </p:nvSpPr>
        <p:spPr>
          <a:xfrm>
            <a:off x="868680" y="466344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aligner le vecteur global g (déjà exposé par le modèle)</a:t>
            </a:r>
            <a:endParaRPr lang="en-US" sz="1350" dirty="0"/>
          </a:p>
        </p:txBody>
      </p:sp>
      <p:sp>
        <p:nvSpPr>
          <p:cNvPr id="18" name="Shape 16"/>
          <p:cNvSpPr/>
          <p:nvPr/>
        </p:nvSpPr>
        <p:spPr>
          <a:xfrm>
            <a:off x="6217920" y="3703320"/>
            <a:ext cx="5394960" cy="1874520"/>
          </a:xfrm>
          <a:prstGeom prst="roundRect">
            <a:avLst>
              <a:gd name="adj" fmla="val 4390"/>
            </a:avLst>
          </a:prstGeom>
          <a:solidFill>
            <a:srgbClr val="F2F6F7"/>
          </a:solidFill>
          <a:ln/>
          <a:effectLst>
            <a:outerShdw sx="100000" sy="100000" kx="0" ky="0" algn="bl" rotWithShape="0" blurRad="88900" dist="25400" dir="5400000">
              <a:srgbClr val="9AAEB5">
                <a:alpha val="35000"/>
              </a:srgbClr>
            </a:outerShdw>
          </a:effectLst>
        </p:spPr>
      </p:sp>
      <p:sp>
        <p:nvSpPr>
          <p:cNvPr id="19" name="Shape 17"/>
          <p:cNvSpPr/>
          <p:nvPr/>
        </p:nvSpPr>
        <p:spPr>
          <a:xfrm>
            <a:off x="6492240" y="3977640"/>
            <a:ext cx="566928" cy="566928"/>
          </a:xfrm>
          <a:prstGeom prst="ellipse">
            <a:avLst/>
          </a:prstGeom>
          <a:solidFill>
            <a:srgbClr val="E76F51"/>
          </a:solidFill>
          <a:ln/>
        </p:spPr>
      </p:sp>
      <p:sp>
        <p:nvSpPr>
          <p:cNvPr id="20" name="Text 18"/>
          <p:cNvSpPr txBox="1"/>
          <p:nvPr/>
        </p:nvSpPr>
        <p:spPr>
          <a:xfrm>
            <a:off x="6492240" y="3977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7223760" y="3995928"/>
            <a:ext cx="4206240" cy="548640"/>
          </a:xfrm>
          <a:prstGeom prst="rect">
            <a:avLst/>
          </a:prstGeom>
          <a:noFill/>
          <a:ln/>
        </p:spPr>
        <p:txBody>
          <a:bodyPr wrap="square" lIns="0" tIns="0" rIns="0" bIns="0" rtlCol="0" anchor="ctr"/>
          <a:lstStyle/>
          <a:p>
            <a:pPr indent="0" marL="0">
              <a:buNone/>
            </a:pPr>
            <a:r>
              <a:rPr lang="en-US" sz="1650" b="1" dirty="0">
                <a:solidFill>
                  <a:srgbClr val="0B3C5D"/>
                </a:solidFill>
                <a:latin typeface="Cambria" pitchFamily="34" charset="0"/>
                <a:ea typeface="Cambria" pitchFamily="34" charset="-122"/>
                <a:cs typeface="Cambria" pitchFamily="34" charset="-120"/>
              </a:rPr>
              <a:t>Comparaison &amp; test de H1</a:t>
            </a:r>
            <a:endParaRPr lang="en-US" sz="1650" dirty="0"/>
          </a:p>
        </p:txBody>
      </p:sp>
      <p:sp>
        <p:nvSpPr>
          <p:cNvPr id="22" name="Text 20"/>
          <p:cNvSpPr txBox="1"/>
          <p:nvPr/>
        </p:nvSpPr>
        <p:spPr>
          <a:xfrm>
            <a:off x="6537960" y="4663440"/>
            <a:ext cx="4754880" cy="822960"/>
          </a:xfrm>
          <a:prstGeom prst="rect">
            <a:avLst/>
          </a:prstGeom>
          <a:noFill/>
          <a:ln/>
        </p:spPr>
        <p:txBody>
          <a:bodyPr wrap="square" lIns="0" tIns="0" rIns="0" bIns="0" rtlCol="0" anchor="ctr"/>
          <a:lstStyle/>
          <a:p>
            <a:pPr indent="0" marL="0">
              <a:lnSpc>
                <a:spcPct val="105000"/>
              </a:lnSpc>
              <a:buNone/>
            </a:pPr>
            <a:r>
              <a:rPr lang="en-US" sz="1350" dirty="0">
                <a:solidFill>
                  <a:srgbClr val="16323D"/>
                </a:solidFill>
                <a:latin typeface="Calibri" pitchFamily="34" charset="0"/>
                <a:ea typeface="Calibri" pitchFamily="34" charset="-122"/>
                <a:cs typeface="Calibri" pitchFamily="34" charset="-120"/>
              </a:rPr>
              <a:t>courbes student_KD vs scratch vs teacher ; conclure (même si H1 infirmée)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293A"/>
        </a:solidFill>
      </p:bgPr>
    </p:bg>
    <p:spTree>
      <p:nvGrpSpPr>
        <p:cNvPr id="1" name=""/>
        <p:cNvGrpSpPr/>
        <p:nvPr/>
      </p:nvGrpSpPr>
      <p:grpSpPr>
        <a:xfrm>
          <a:off x="0" y="0"/>
          <a:ext cx="0" cy="0"/>
          <a:chOff x="0" y="0"/>
          <a:chExt cx="0" cy="0"/>
        </a:xfrm>
      </p:grpSpPr>
      <p:sp>
        <p:nvSpPr>
          <p:cNvPr id="2" name="Shape 0"/>
          <p:cNvSpPr/>
          <p:nvPr/>
        </p:nvSpPr>
        <p:spPr>
          <a:xfrm>
            <a:off x="2453492" y="4873903"/>
            <a:ext cx="158451" cy="158451"/>
          </a:xfrm>
          <a:prstGeom prst="ellipse">
            <a:avLst/>
          </a:prstGeom>
          <a:solidFill>
            <a:srgbClr val="1C7293">
              <a:alpha val="56287"/>
            </a:srgbClr>
          </a:solidFill>
          <a:ln/>
        </p:spPr>
      </p:sp>
      <p:sp>
        <p:nvSpPr>
          <p:cNvPr id="3" name="Shape 1"/>
          <p:cNvSpPr/>
          <p:nvPr/>
        </p:nvSpPr>
        <p:spPr>
          <a:xfrm>
            <a:off x="2942762" y="5048397"/>
            <a:ext cx="79139" cy="79139"/>
          </a:xfrm>
          <a:prstGeom prst="ellipse">
            <a:avLst/>
          </a:prstGeom>
          <a:solidFill>
            <a:srgbClr val="1C7293">
              <a:alpha val="73376"/>
            </a:srgbClr>
          </a:solidFill>
          <a:ln/>
        </p:spPr>
      </p:sp>
      <p:sp>
        <p:nvSpPr>
          <p:cNvPr id="4" name="Shape 2"/>
          <p:cNvSpPr/>
          <p:nvPr/>
        </p:nvSpPr>
        <p:spPr>
          <a:xfrm>
            <a:off x="2060245" y="4507843"/>
            <a:ext cx="126615" cy="126615"/>
          </a:xfrm>
          <a:prstGeom prst="ellipse">
            <a:avLst/>
          </a:prstGeom>
          <a:solidFill>
            <a:srgbClr val="1C7293">
              <a:alpha val="32147"/>
            </a:srgbClr>
          </a:solidFill>
          <a:ln/>
        </p:spPr>
      </p:sp>
      <p:sp>
        <p:nvSpPr>
          <p:cNvPr id="5" name="Shape 3"/>
          <p:cNvSpPr/>
          <p:nvPr/>
        </p:nvSpPr>
        <p:spPr>
          <a:xfrm>
            <a:off x="2950461" y="4484625"/>
            <a:ext cx="133765" cy="133765"/>
          </a:xfrm>
          <a:prstGeom prst="ellipse">
            <a:avLst/>
          </a:prstGeom>
          <a:solidFill>
            <a:srgbClr val="1C7293">
              <a:alpha val="30806"/>
            </a:srgbClr>
          </a:solidFill>
          <a:ln/>
        </p:spPr>
      </p:sp>
      <p:sp>
        <p:nvSpPr>
          <p:cNvPr id="6" name="Shape 4"/>
          <p:cNvSpPr/>
          <p:nvPr/>
        </p:nvSpPr>
        <p:spPr>
          <a:xfrm>
            <a:off x="2991038" y="4011906"/>
            <a:ext cx="87390" cy="87390"/>
          </a:xfrm>
          <a:prstGeom prst="ellipse">
            <a:avLst/>
          </a:prstGeom>
          <a:solidFill>
            <a:srgbClr val="1C7293">
              <a:alpha val="34231"/>
            </a:srgbClr>
          </a:solidFill>
          <a:ln/>
        </p:spPr>
      </p:sp>
      <p:sp>
        <p:nvSpPr>
          <p:cNvPr id="7" name="Shape 5"/>
          <p:cNvSpPr/>
          <p:nvPr/>
        </p:nvSpPr>
        <p:spPr>
          <a:xfrm>
            <a:off x="1619460" y="5393590"/>
            <a:ext cx="198691" cy="198691"/>
          </a:xfrm>
          <a:prstGeom prst="ellipse">
            <a:avLst/>
          </a:prstGeom>
          <a:solidFill>
            <a:srgbClr val="1C7293">
              <a:alpha val="68774"/>
            </a:srgbClr>
          </a:solidFill>
          <a:ln/>
        </p:spPr>
      </p:sp>
      <p:sp>
        <p:nvSpPr>
          <p:cNvPr id="8" name="Shape 6"/>
          <p:cNvSpPr/>
          <p:nvPr/>
        </p:nvSpPr>
        <p:spPr>
          <a:xfrm>
            <a:off x="2163861" y="5720159"/>
            <a:ext cx="200148" cy="200148"/>
          </a:xfrm>
          <a:prstGeom prst="ellipse">
            <a:avLst/>
          </a:prstGeom>
          <a:solidFill>
            <a:srgbClr val="1C7293">
              <a:alpha val="51458"/>
            </a:srgbClr>
          </a:solidFill>
          <a:ln/>
        </p:spPr>
      </p:sp>
      <p:sp>
        <p:nvSpPr>
          <p:cNvPr id="9" name="Shape 7"/>
          <p:cNvSpPr/>
          <p:nvPr/>
        </p:nvSpPr>
        <p:spPr>
          <a:xfrm>
            <a:off x="1834334" y="5563241"/>
            <a:ext cx="49605" cy="49605"/>
          </a:xfrm>
          <a:prstGeom prst="ellipse">
            <a:avLst/>
          </a:prstGeom>
          <a:solidFill>
            <a:srgbClr val="1C7293">
              <a:alpha val="53714"/>
            </a:srgbClr>
          </a:solidFill>
          <a:ln/>
        </p:spPr>
      </p:sp>
      <p:sp>
        <p:nvSpPr>
          <p:cNvPr id="10" name="Shape 8"/>
          <p:cNvSpPr/>
          <p:nvPr/>
        </p:nvSpPr>
        <p:spPr>
          <a:xfrm>
            <a:off x="694061" y="5055120"/>
            <a:ext cx="173254" cy="173254"/>
          </a:xfrm>
          <a:prstGeom prst="ellipse">
            <a:avLst/>
          </a:prstGeom>
          <a:solidFill>
            <a:srgbClr val="1C7293">
              <a:alpha val="77179"/>
            </a:srgbClr>
          </a:solidFill>
          <a:ln/>
        </p:spPr>
      </p:sp>
      <p:sp>
        <p:nvSpPr>
          <p:cNvPr id="11" name="Shape 9"/>
          <p:cNvSpPr/>
          <p:nvPr/>
        </p:nvSpPr>
        <p:spPr>
          <a:xfrm>
            <a:off x="520376" y="5617590"/>
            <a:ext cx="139277" cy="139277"/>
          </a:xfrm>
          <a:prstGeom prst="ellipse">
            <a:avLst/>
          </a:prstGeom>
          <a:solidFill>
            <a:srgbClr val="1C7293">
              <a:alpha val="34662"/>
            </a:srgbClr>
          </a:solidFill>
          <a:ln/>
        </p:spPr>
      </p:sp>
      <p:sp>
        <p:nvSpPr>
          <p:cNvPr id="12" name="Shape 10"/>
          <p:cNvSpPr/>
          <p:nvPr/>
        </p:nvSpPr>
        <p:spPr>
          <a:xfrm>
            <a:off x="1620444" y="6480879"/>
            <a:ext cx="176896" cy="176896"/>
          </a:xfrm>
          <a:prstGeom prst="ellipse">
            <a:avLst/>
          </a:prstGeom>
          <a:solidFill>
            <a:srgbClr val="1C7293">
              <a:alpha val="32496"/>
            </a:srgbClr>
          </a:solidFill>
          <a:ln/>
        </p:spPr>
      </p:sp>
      <p:sp>
        <p:nvSpPr>
          <p:cNvPr id="13" name="Shape 11"/>
          <p:cNvSpPr/>
          <p:nvPr/>
        </p:nvSpPr>
        <p:spPr>
          <a:xfrm>
            <a:off x="541447" y="4449658"/>
            <a:ext cx="55193" cy="55193"/>
          </a:xfrm>
          <a:prstGeom prst="ellipse">
            <a:avLst/>
          </a:prstGeom>
          <a:solidFill>
            <a:srgbClr val="1C7293">
              <a:alpha val="78706"/>
            </a:srgbClr>
          </a:solidFill>
          <a:ln/>
        </p:spPr>
      </p:sp>
      <p:sp>
        <p:nvSpPr>
          <p:cNvPr id="14" name="Shape 12"/>
          <p:cNvSpPr/>
          <p:nvPr/>
        </p:nvSpPr>
        <p:spPr>
          <a:xfrm>
            <a:off x="1768312" y="4137729"/>
            <a:ext cx="92151" cy="92151"/>
          </a:xfrm>
          <a:prstGeom prst="ellipse">
            <a:avLst/>
          </a:prstGeom>
          <a:solidFill>
            <a:srgbClr val="1C7293">
              <a:alpha val="57584"/>
            </a:srgbClr>
          </a:solidFill>
          <a:ln/>
        </p:spPr>
      </p:sp>
      <p:sp>
        <p:nvSpPr>
          <p:cNvPr id="15" name="Shape 13"/>
          <p:cNvSpPr/>
          <p:nvPr/>
        </p:nvSpPr>
        <p:spPr>
          <a:xfrm>
            <a:off x="394306" y="4738776"/>
            <a:ext cx="65102" cy="65102"/>
          </a:xfrm>
          <a:prstGeom prst="ellipse">
            <a:avLst/>
          </a:prstGeom>
          <a:solidFill>
            <a:srgbClr val="1C7293">
              <a:alpha val="78789"/>
            </a:srgbClr>
          </a:solidFill>
          <a:ln/>
        </p:spPr>
      </p:sp>
      <p:sp>
        <p:nvSpPr>
          <p:cNvPr id="16" name="Shape 14"/>
          <p:cNvSpPr/>
          <p:nvPr/>
        </p:nvSpPr>
        <p:spPr>
          <a:xfrm>
            <a:off x="721365" y="4377864"/>
            <a:ext cx="50623" cy="50623"/>
          </a:xfrm>
          <a:prstGeom prst="ellipse">
            <a:avLst/>
          </a:prstGeom>
          <a:solidFill>
            <a:srgbClr val="1C7293">
              <a:alpha val="72132"/>
            </a:srgbClr>
          </a:solidFill>
          <a:ln/>
        </p:spPr>
      </p:sp>
      <p:sp>
        <p:nvSpPr>
          <p:cNvPr id="17" name="Shape 15"/>
          <p:cNvSpPr/>
          <p:nvPr/>
        </p:nvSpPr>
        <p:spPr>
          <a:xfrm>
            <a:off x="1550364" y="5711940"/>
            <a:ext cx="217450" cy="217450"/>
          </a:xfrm>
          <a:prstGeom prst="ellipse">
            <a:avLst/>
          </a:prstGeom>
          <a:solidFill>
            <a:srgbClr val="1C7293">
              <a:alpha val="63741"/>
            </a:srgbClr>
          </a:solidFill>
          <a:ln/>
        </p:spPr>
      </p:sp>
      <p:sp>
        <p:nvSpPr>
          <p:cNvPr id="18" name="Shape 16"/>
          <p:cNvSpPr/>
          <p:nvPr/>
        </p:nvSpPr>
        <p:spPr>
          <a:xfrm>
            <a:off x="2217925" y="6463373"/>
            <a:ext cx="236486" cy="236486"/>
          </a:xfrm>
          <a:prstGeom prst="ellipse">
            <a:avLst/>
          </a:prstGeom>
          <a:solidFill>
            <a:srgbClr val="1C7293">
              <a:alpha val="35728"/>
            </a:srgbClr>
          </a:solidFill>
          <a:ln/>
        </p:spPr>
      </p:sp>
      <p:sp>
        <p:nvSpPr>
          <p:cNvPr id="19" name="Shape 17"/>
          <p:cNvSpPr/>
          <p:nvPr/>
        </p:nvSpPr>
        <p:spPr>
          <a:xfrm>
            <a:off x="288786" y="5871902"/>
            <a:ext cx="111683" cy="111683"/>
          </a:xfrm>
          <a:prstGeom prst="ellipse">
            <a:avLst/>
          </a:prstGeom>
          <a:solidFill>
            <a:srgbClr val="1C7293">
              <a:alpha val="56762"/>
            </a:srgbClr>
          </a:solidFill>
          <a:ln/>
        </p:spPr>
      </p:sp>
      <p:sp>
        <p:nvSpPr>
          <p:cNvPr id="20" name="Shape 18"/>
          <p:cNvSpPr/>
          <p:nvPr/>
        </p:nvSpPr>
        <p:spPr>
          <a:xfrm>
            <a:off x="814109" y="4327759"/>
            <a:ext cx="81235" cy="81235"/>
          </a:xfrm>
          <a:prstGeom prst="ellipse">
            <a:avLst/>
          </a:prstGeom>
          <a:solidFill>
            <a:srgbClr val="1C7293">
              <a:alpha val="43954"/>
            </a:srgbClr>
          </a:solidFill>
          <a:ln/>
        </p:spPr>
      </p:sp>
      <p:sp>
        <p:nvSpPr>
          <p:cNvPr id="21" name="Shape 19"/>
          <p:cNvSpPr/>
          <p:nvPr/>
        </p:nvSpPr>
        <p:spPr>
          <a:xfrm>
            <a:off x="2655685" y="4263123"/>
            <a:ext cx="138393" cy="138393"/>
          </a:xfrm>
          <a:prstGeom prst="ellipse">
            <a:avLst/>
          </a:prstGeom>
          <a:solidFill>
            <a:srgbClr val="1C7293">
              <a:alpha val="52955"/>
            </a:srgbClr>
          </a:solidFill>
          <a:ln/>
        </p:spPr>
      </p:sp>
      <p:sp>
        <p:nvSpPr>
          <p:cNvPr id="22" name="Shape 20"/>
          <p:cNvSpPr/>
          <p:nvPr/>
        </p:nvSpPr>
        <p:spPr>
          <a:xfrm>
            <a:off x="1462634" y="6515842"/>
            <a:ext cx="227463" cy="227463"/>
          </a:xfrm>
          <a:prstGeom prst="ellipse">
            <a:avLst/>
          </a:prstGeom>
          <a:solidFill>
            <a:srgbClr val="1C7293">
              <a:alpha val="32749"/>
            </a:srgbClr>
          </a:solidFill>
          <a:ln/>
        </p:spPr>
      </p:sp>
      <p:sp>
        <p:nvSpPr>
          <p:cNvPr id="23" name="Shape 21"/>
          <p:cNvSpPr/>
          <p:nvPr/>
        </p:nvSpPr>
        <p:spPr>
          <a:xfrm>
            <a:off x="2370649" y="4140521"/>
            <a:ext cx="71540" cy="71540"/>
          </a:xfrm>
          <a:prstGeom prst="ellipse">
            <a:avLst/>
          </a:prstGeom>
          <a:solidFill>
            <a:srgbClr val="1C7293">
              <a:alpha val="35259"/>
            </a:srgbClr>
          </a:solidFill>
          <a:ln/>
        </p:spPr>
      </p:sp>
      <p:sp>
        <p:nvSpPr>
          <p:cNvPr id="24" name="Text 22"/>
          <p:cNvSpPr txBox="1"/>
          <p:nvPr/>
        </p:nvSpPr>
        <p:spPr>
          <a:xfrm>
            <a:off x="640080" y="822960"/>
            <a:ext cx="100584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25" name="Text 23"/>
          <p:cNvSpPr txBox="1"/>
          <p:nvPr/>
        </p:nvSpPr>
        <p:spPr>
          <a:xfrm>
            <a:off x="685800" y="1920240"/>
            <a:ext cx="10698480" cy="3474720"/>
          </a:xfrm>
          <a:prstGeom prst="rect">
            <a:avLst/>
          </a:prstGeom>
          <a:noFill/>
          <a:ln/>
        </p:spPr>
        <p:txBody>
          <a:bodyPr wrap="square" lIns="0" tIns="0" rIns="0" bIns="0" rtlCol="0" anchor="ctr"/>
          <a:lstStyle/>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Infrastructure complète + baselines établies : données → nuages de points, teacher, student, protocole de robustesse.</a:t>
            </a:r>
            <a:endParaRPr lang="en-US" sz="1700" dirty="0"/>
          </a:p>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Le sous-échantillonnage dégrade nettement la classification (AUC 0.80 → 0.57) — mesurable et reproductible.</a:t>
            </a:r>
            <a:endParaRPr lang="en-US" sz="1700" dirty="0"/>
          </a:p>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H1 recadrée honnêtement : la KD doit transférer la robustesse basse-densité, pas la précision.</a:t>
            </a:r>
            <a:endParaRPr lang="en-US" sz="1700" dirty="0"/>
          </a:p>
          <a:p>
            <a:pPr marL="254000" indent="-254000">
              <a:lnSpc>
                <a:spcPct val="106000"/>
              </a:lnSpc>
              <a:spcAft>
                <a:spcPts val="1300"/>
              </a:spcAft>
              <a:buSzPct val="100000"/>
              <a:buChar char="•"/>
            </a:pPr>
            <a:r>
              <a:rPr lang="en-US" sz="1700" dirty="0">
                <a:solidFill>
                  <a:srgbClr val="E6F2F3"/>
                </a:solidFill>
                <a:latin typeface="Calibri" pitchFamily="34" charset="0"/>
                <a:ea typeface="Calibri" pitchFamily="34" charset="-122"/>
                <a:cs typeface="Calibri" pitchFamily="34" charset="-120"/>
              </a:rPr>
              <a:t>Prochaine étape : implémenter la KD (logit / robuste / features) et comparer les courbes.</a:t>
            </a:r>
            <a:endParaRPr lang="en-US" sz="1700" dirty="0"/>
          </a:p>
        </p:txBody>
      </p:sp>
      <p:sp>
        <p:nvSpPr>
          <p:cNvPr id="26" name="Text 24"/>
          <p:cNvSpPr txBox="1"/>
          <p:nvPr/>
        </p:nvSpPr>
        <p:spPr>
          <a:xfrm>
            <a:off x="685800" y="5989320"/>
            <a:ext cx="10972800" cy="457200"/>
          </a:xfrm>
          <a:prstGeom prst="rect">
            <a:avLst/>
          </a:prstGeom>
          <a:noFill/>
          <a:ln/>
        </p:spPr>
        <p:txBody>
          <a:bodyPr wrap="square" lIns="0" tIns="0" rIns="0" bIns="0" rtlCol="0" anchor="ctr"/>
          <a:lstStyle/>
          <a:p>
            <a:pPr indent="0" marL="0">
              <a:buNone/>
            </a:pPr>
            <a:r>
              <a:rPr lang="en-US" sz="1300" dirty="0">
                <a:solidFill>
                  <a:srgbClr val="9FC2C8"/>
                </a:solidFill>
                <a:latin typeface="Calibri" pitchFamily="34" charset="0"/>
                <a:ea typeface="Calibri" pitchFamily="34" charset="-122"/>
                <a:cs typeface="Calibri" pitchFamily="34" charset="-120"/>
              </a:rPr>
              <a:t>Code reproductible : src/ · run_half.py · notebooks/01_pointclouds_robustness.ipynb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KD &amp; Robustesse au sous-echantillonnage</dc:title>
  <dc:subject>PptxGenJS Presentation</dc:subject>
  <dc:creator>Projet Point Clouds + KD</dc:creator>
  <cp:lastModifiedBy>Projet Point Clouds + KD</cp:lastModifiedBy>
  <cp:revision>1</cp:revision>
  <dcterms:created xsi:type="dcterms:W3CDTF">2026-10-19T13:52:53Z</dcterms:created>
  <dcterms:modified xsi:type="dcterms:W3CDTF">2026-10-19T13:52:53Z</dcterms:modified>
</cp:coreProperties>
</file>